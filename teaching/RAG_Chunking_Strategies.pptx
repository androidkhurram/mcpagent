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90495" cy="6858000"/>
          </a:xfrm>
          <a:prstGeom prst="rect">
            <a:avLst/>
          </a:prstGeom>
          <a:solidFill>
            <a:srgbClr val="1E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C7C7C"/>
                </a:solidFill>
                <a:latin typeface="Calibri"/>
              </a:rPr>
              <a:t>TEACHING SERIES · INTRO TO AI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Retrieval-Augmented
Generation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Calibri"/>
              </a:rPr>
              <a:t>Focus: Chunking Strategies — with examples &amp;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For builders learning how to ground LLMs in real documents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What we'll cover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A practical path from RAG basics → chunking craft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848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E2A"/>
                </a:solidFill>
                <a:latin typeface="Calibri"/>
              </a:rPr>
              <a:t>What RAG is and why it exists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97480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620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E2A"/>
                </a:solidFill>
                <a:latin typeface="Calibri"/>
              </a:rPr>
              <a:t>Where chunking sits in the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74720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393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E2A"/>
                </a:solidFill>
                <a:latin typeface="Calibri"/>
              </a:rPr>
              <a:t>Six chunking strategies with worked 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51960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89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4165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E2A"/>
                </a:solidFill>
                <a:latin typeface="Calibri"/>
              </a:rPr>
              <a:t>How to choose a strategy for your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29200"/>
            <a:ext cx="111556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1937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1E2A"/>
                </a:solidFill>
                <a:latin typeface="Calibri"/>
              </a:rPr>
              <a:t>Real applications + common failure modes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  /  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What is RAG?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Retrieve relevant knowledge → Augment the prompt → Generate an answer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356616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3566160" cy="10972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1. 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Search your knowledge base for passages related to the user question.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011680"/>
            <a:ext cx="356616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011680"/>
            <a:ext cx="3566160" cy="10972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2. Augment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Insert those passages into the LLM prompt as grounded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56616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3566160" cy="109728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C7C7C"/>
                </a:solidFill>
                <a:latin typeface="Calibri"/>
              </a:rPr>
              <a:t>3. 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1089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The model answers using that context — not only its training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3  /  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Why RAG? LLMs alone are not enough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Chunking only matters because retrieval quality decides answer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Hallucinations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Models invent confident-sounding facts when knowledge is missing.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4864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Stale knowledge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Training cutoffs miss policies, prices, and last week's docs.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31920"/>
            <a:ext cx="54864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51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Private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006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Company wikis, tickets, and PDFs are never in the base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931920"/>
            <a:ext cx="5486400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519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Citations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8006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Users need sources — RAG returns passages you can show.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4  /  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The RAG pipeline — and where chunking lives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Indexing happens once; retrieval + generation happen per query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86000"/>
            <a:ext cx="17830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2A"/>
                </a:solidFill>
                <a:latin typeface="Calibri"/>
              </a:rPr>
              <a:t>Documents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675"/>
                </a:solidFill>
                <a:latin typeface="Calibri"/>
              </a:rPr>
              <a:t>PDFs, HTML,
MD, tickets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2286000"/>
            <a:ext cx="1783080" cy="256032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560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Chunk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200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6F4F4"/>
                </a:solidFill>
                <a:latin typeface="Calibri"/>
              </a:rPr>
              <a:t>Split into
retrievable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286000"/>
            <a:ext cx="17830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560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2A"/>
                </a:solidFill>
                <a:latin typeface="Calibri"/>
              </a:rPr>
              <a:t>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200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675"/>
                </a:solidFill>
                <a:latin typeface="Calibri"/>
              </a:rPr>
              <a:t>Vectors +
metadata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39" y="2286000"/>
            <a:ext cx="17830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79" y="2560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2A"/>
                </a:solidFill>
                <a:latin typeface="Calibri"/>
              </a:rPr>
              <a:t>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3200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675"/>
                </a:solidFill>
                <a:latin typeface="Calibri"/>
              </a:rPr>
              <a:t>Vector DB /
search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286000"/>
            <a:ext cx="17830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560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2A"/>
                </a:solidFill>
                <a:latin typeface="Calibri"/>
              </a:rPr>
              <a:t>Retrieve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200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675"/>
                </a:solidFill>
                <a:latin typeface="Calibri"/>
              </a:rPr>
              <a:t>Top-k for
the 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2004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C7C7C"/>
                </a:solidFill>
                <a:latin typeface="Calibri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2286000"/>
            <a:ext cx="1783080" cy="2560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256032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41E2A"/>
                </a:solidFill>
                <a:latin typeface="Calibri"/>
              </a:rPr>
              <a:t>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3200400"/>
            <a:ext cx="1600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A6675"/>
                </a:solidFill>
                <a:latin typeface="Calibri"/>
              </a:rPr>
              <a:t>LLM + context
+ citations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212080"/>
            <a:ext cx="11155680" cy="82296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3949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Teaching focus: Chunk is the design decision that most often makes or breaks retrieval.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5  /  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Why chunking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Embeddings retrieve chunks — not whole books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39496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53A3A"/>
                </a:solidFill>
                <a:latin typeface="Calibri"/>
              </a:rPr>
              <a:t>Too large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Dilutes the embedding signal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Retrieves lots of irrelevant text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Burns context window tokens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Harder for the model to focus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39496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7A2A"/>
                </a:solidFill>
                <a:latin typeface="Calibri"/>
              </a:rPr>
              <a:t>Too small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346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Splits mid-idea / mid-sentence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Loses surrounding context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Needs more chunks to answer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Noisy ranking / fragmented cites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6  / 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Six chunking strategies we'll unpack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From simplest to more structure-aware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Fixed-size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Character / token windows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1168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Sliding window continuity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201168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743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Recursive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Respect headings &amp; 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2336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Split on meaning shifts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02336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Parent–child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Retrieve small, read large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4023360"/>
            <a:ext cx="36118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297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Proposition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212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Atomic fact-level chunks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7  /  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01 · Fixed-size 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Split every N characters or tokens — simple, predictable, often good enough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694944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6400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Choose size: e.g. 500–1000 tokens (depends on embedding model)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Walk through the document sequentially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Optionally break on whitespace / sentence ends near the limit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Store chunk_id, source, page, start/end offsets as metadata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965960"/>
            <a:ext cx="3977639" cy="393192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Best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83464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Homogeneous text (blogs, emails)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Quick prototypes / MVPs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When structure is weak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8  / 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Example · Fixed-size on a policy 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Size = ~80 tokens  ·  no overlap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1155680" cy="123444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SOURCE PARAGRAPH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Employees may work remotely up to three days per week. Managers must approve schedules by Friday. Equipment stipends are $500 per year. Security training is mandatory before access is granted.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7560"/>
            <a:ext cx="54864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Chunk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Employees may work remotely up to three days per week. Managers must approve schedules by Friday.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337560"/>
            <a:ext cx="54864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Chunk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77639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Equipment stipends are $500 per year. Security training is mandatory before access is granted.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9  / 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02 · Overlapping / sliding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Carry the last N tokens into the next chunk so ideas don't die at the boundary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C7C7C"/>
                </a:solidFill>
                <a:latin typeface="Calibri"/>
              </a:rPr>
              <a:t>Why overlap?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Questions often span two adjacent chunks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Overlap preserves bridging sentences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Typical overlap: 10–20% of chunk size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Tradeoff: more storage + possible duplicates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65960"/>
            <a:ext cx="5349240" cy="393192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240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Visual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2926080"/>
            <a:ext cx="4663440" cy="64008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Chunk 1 .................... [overlap]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840480"/>
            <a:ext cx="4663440" cy="640080"/>
          </a:xfrm>
          <a:prstGeom prst="roundRect">
            <a:avLst>
              <a:gd name="adj" fmla="val 10000"/>
            </a:avLst>
          </a:prstGeom>
          <a:solidFill>
            <a:srgbClr val="1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3977639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[overlap] .................... Chunk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8463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4D0"/>
                </a:solidFill>
                <a:latin typeface="Calibri"/>
              </a:rPr>
              <a:t>Shared region keeps continuity across the cut.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10  / 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Example · Overlap saves a multi-hop 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Query: "How much is the stipend and who approves remote days?"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1155680" cy="100584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Without overlap, stipend and approval rules can land in different chunks — retrieval may miss one half.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54680"/>
            <a:ext cx="548640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337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Chunk 1 (with overlap)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…Managers must approve schedules by Friday. Equipment stipends are $500 per year.…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154680"/>
            <a:ext cx="5394960" cy="2651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337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Why it helps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Approval + stipend co-occur in one chunk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Single retrieval can answer the full question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Fewer "I only found half the policy" failures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11  / 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03 · Recursive / structure-aware 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Prefer natural boundaries: sections → paragraphs → sentences → words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68580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Split hierarchy (typical)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6309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1. Split on headings / markdown #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2. If still too big → split on paragraphs (\n\n)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3. Then sentences (. ! ?)</a:t>
            </a:r>
          </a:p>
          <a:p>
            <a:pPr>
              <a:spcAft>
                <a:spcPts val="1400"/>
              </a:spcAft>
            </a:pPr>
            <a:r>
              <a:rPr sz="1600" b="0">
                <a:solidFill>
                  <a:srgbClr val="141E2A"/>
                </a:solidFill>
                <a:latin typeface="Calibri"/>
              </a:rPr>
              <a:t>•  4. Last resort → characters /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965960"/>
            <a:ext cx="4069080" cy="393192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2860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Best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880360"/>
            <a:ext cx="3566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Docs with headings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Markdown / Notion / Confluence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API references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•  Handbooks &amp; manuals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12  /  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Example · Recursive keeps sections intact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Bad: cut mid-section  ·  Good: one chunk per heading block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39496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394960" cy="109728"/>
          </a:xfrm>
          <a:prstGeom prst="rect">
            <a:avLst/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53A3A"/>
                </a:solidFill>
                <a:latin typeface="Calibri"/>
              </a:rPr>
              <a:t>Naive fixed cut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## Refunds
Customers may request a refund within 30 days.
## Shipping
Orders ship within…  ← cut here mid-thought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39496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394960" cy="109728"/>
          </a:xfrm>
          <a:prstGeom prst="rect">
            <a:avLst/>
          </a:prstGeom>
          <a:solidFill>
            <a:srgbClr val="2E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Calibri"/>
              </a:rPr>
              <a:t>Recursive (structure-aware)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8346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Chunk 1 → ## Refunds + body
Chunk 2 → ## Shipping + body
Each retrieval returns a complete topic.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13  / 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04 · Semantic 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Split when meaning shifts — not when a counter hits 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55680" cy="118872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Embed consecutive sentences. When cosine similarity drops below a threshold, start a new chunk.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8328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60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Group by topic coherence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38328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4160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Extra embedding passes at index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60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Better units for mixed / narrative docs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383280"/>
            <a:ext cx="2743200" cy="228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3657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Watch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160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Threshold tuning is data-dependent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14  /  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Example · Semantic split on a blog 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One article, three topics → three chunks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111556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37160" cy="1143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Chunk A · Product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We shipped v2.0 with offline sync…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37560"/>
            <a:ext cx="111556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137160" cy="1143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Chunk B · Pricing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Starting May 1, Pro is $29/mo…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663440"/>
            <a:ext cx="1115568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663440"/>
            <a:ext cx="137160" cy="1143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Chunk C · Hiring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675"/>
                </a:solidFill>
                <a:latin typeface="Calibri"/>
              </a:rPr>
              <a:t>We're hiring two backend engineers…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15  /  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05 · Parent–child (small-to-big)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Retrieve precise child chunks; expand to parent for 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7C7C"/>
                </a:solidFill>
                <a:latin typeface="Calibri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88920"/>
            <a:ext cx="49377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Child: small (sentence / paragraph) for accurate search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Parent: section / page for rich LLM context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On hit: fetch parent_id → inject full parent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141E2A"/>
                </a:solidFill>
                <a:latin typeface="Calibri"/>
              </a:rPr>
              <a:t>•  Also called hierarchical / multi-granularity RAG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394960" cy="393192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Example layout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92608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3154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PARENT · §3 Security Policy (full section)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4069080"/>
            <a:ext cx="4023360" cy="411480"/>
          </a:xfrm>
          <a:prstGeom prst="roundRect">
            <a:avLst>
              <a:gd name="adj" fmla="val 10000"/>
            </a:avLst>
          </a:prstGeom>
          <a:solidFill>
            <a:srgbClr val="1E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Child 3.1 MFA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572000"/>
            <a:ext cx="4023360" cy="411480"/>
          </a:xfrm>
          <a:prstGeom prst="roundRect">
            <a:avLst>
              <a:gd name="adj" fmla="val 10000"/>
            </a:avLst>
          </a:prstGeom>
          <a:solidFill>
            <a:srgbClr val="1E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Child 3.2 VPN only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5074920"/>
            <a:ext cx="4023360" cy="411480"/>
          </a:xfrm>
          <a:prstGeom prst="roundRect">
            <a:avLst>
              <a:gd name="adj" fmla="val 10000"/>
            </a:avLst>
          </a:prstGeom>
          <a:solidFill>
            <a:srgbClr val="1E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Child 3.3 Device wipe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16  /  32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06 · Proposition / atomic 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Rewrite text into standalone facts, then embed each fact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55680" cy="128016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41E2A"/>
                </a:solidFill>
                <a:latin typeface="Calibri"/>
              </a:rPr>
              <a:t>Use an LLM to extract propositions that are self-contained (no "it / this / the above"). Great for Q&amp;A over dense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74720"/>
            <a:ext cx="539496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675"/>
                </a:solidFill>
                <a:latin typeface="Calibri"/>
              </a:rPr>
              <a:t>Original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The Acme Plan covers dental after a 6-month wait and vision after 90 days for full-time staff.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474720"/>
            <a:ext cx="539496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703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Propositions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11480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Acme Plan: dental after 6 months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Acme Plan: vision after 90 days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Eligibility: full-time staff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17  /  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Parent–child · Why it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You are stuck between two bad options — this strategy uses both on purpose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39496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394960" cy="109728"/>
          </a:xfrm>
          <a:prstGeom prst="rect">
            <a:avLst/>
          </a:prstGeom>
          <a:solidFill>
            <a:srgbClr val="B5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53A3A"/>
                </a:solidFill>
                <a:latin typeface="Calibri"/>
              </a:rPr>
              <a:t>Big chunks (whole section)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Easy to find the right topic area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Too much noise in the embedding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LLM gets 2 pages when it needed 1 sentence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Retrieval rank is diluted by extra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39496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965960"/>
            <a:ext cx="5394960" cy="109728"/>
          </a:xfrm>
          <a:prstGeom prst="rect">
            <a:avLst/>
          </a:prstGeom>
          <a:solidFill>
            <a:srgbClr val="D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D47A2A"/>
                </a:solidFill>
                <a:latin typeface="Calibri"/>
              </a:rPr>
              <a:t>Small chunks (one sentence)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8803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Very precise vector match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"It expires in 30 days" — what is "it"?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Missing definitions and exceptions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Hard to cite a meaningful source 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98932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08076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Fix: search with small children · answer with the full parent section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18  /  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Parent–child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Handbook §3 Remote Work — one parent, four searchable children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1155680" cy="141732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C7C7C"/>
                </a:solidFill>
                <a:latin typeface="Calibri"/>
              </a:rPr>
              <a:t>PARENT (stored for generation, not embedded)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§3 Remote Work: up to 3 days/week remote · manager approval by Friday · $500/yr equipment stipend · security training before VPN access.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520440"/>
            <a:ext cx="3657600" cy="4114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84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Child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3520440"/>
            <a:ext cx="3657600" cy="4114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584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Embedded text (search index)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3520440"/>
            <a:ext cx="3657600" cy="4114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584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parent_id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77639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08736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C1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977639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408736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Remote work allowed up to 3 days per week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80" y="3977639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08736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§3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544567"/>
            <a:ext cx="3657600" cy="530352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65429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C2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4544567"/>
            <a:ext cx="3657600" cy="530352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65429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Manager must approve remote schedule by Friday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80" y="4544567"/>
            <a:ext cx="3657600" cy="530352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465429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§3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111495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2122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C3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5111495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522122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Equipment stipend is $500 per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5111495"/>
            <a:ext cx="3657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5221223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§3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678423"/>
            <a:ext cx="3657600" cy="530352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78815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C4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5678423"/>
            <a:ext cx="3657600" cy="530352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578815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Security training required before VPN access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80" y="5678423"/>
            <a:ext cx="3657600" cy="530352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578815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§3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6263640"/>
            <a:ext cx="11155680" cy="32004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630936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Analogy: children = book index entries · parent = the full page you actually read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19  /  32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Parent–child · Retrieval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Query: "How much is the equipment stipend?"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111556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039111"/>
            <a:ext cx="411480" cy="4114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8483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98424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User 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84247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How much is the equipment stipend?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87751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675"/>
                </a:solidFill>
                <a:latin typeface="Calibr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43199"/>
            <a:ext cx="111556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2907791"/>
            <a:ext cx="411480" cy="4114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5351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85292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Vector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852927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Matches child C3 — highest similarity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56431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675"/>
                </a:solidFill>
                <a:latin typeface="Calibr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11879"/>
            <a:ext cx="111556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3776471"/>
            <a:ext cx="411480" cy="4114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2219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72160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Read parent_id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721607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C3 points to parent §3 Remote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25111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675"/>
                </a:solidFill>
                <a:latin typeface="Calibr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480558"/>
            <a:ext cx="111556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7240" y="4645150"/>
            <a:ext cx="411480" cy="4114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69087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459028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Fetch parent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59028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Load full §3 section (all 4 rules) into the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9379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A6675"/>
                </a:solidFill>
                <a:latin typeface="Calibr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5349239"/>
            <a:ext cx="1115568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7240" y="5513831"/>
            <a:ext cx="411480" cy="4114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559551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458967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LLM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5458967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"$500 per year" — with policy context if needed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263640"/>
            <a:ext cx="11155680" cy="32004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30936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A"/>
                </a:solidFill>
                <a:latin typeface="Calibri"/>
              </a:rPr>
              <a:t>Best for: long manuals, policies, API docs — precise search + rich answers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20  /  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Parent–child · What gets embedded?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Usually: embed children only · store parents as linked text (not in the search index)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3200400" cy="438912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965959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Piece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3320" y="1874519"/>
            <a:ext cx="1371600" cy="438912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1965959"/>
            <a:ext cx="1261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Embedded?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1874519"/>
            <a:ext cx="2286000" cy="438912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8072" y="1965959"/>
            <a:ext cx="2176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Stored where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874519"/>
            <a:ext cx="3840480" cy="438912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34072" y="1965959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Used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313431"/>
            <a:ext cx="3200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450591"/>
            <a:ext cx="3090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Child (sentence / paragraph)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2313431"/>
            <a:ext cx="13716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6472" y="2450591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4F"/>
                </a:solidFill>
                <a:latin typeface="Calibri"/>
              </a:rPr>
              <a:t>Yes 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313431"/>
            <a:ext cx="2286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48072" y="2450591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Vector DB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2313431"/>
            <a:ext cx="3840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4072" y="2450591"/>
            <a:ext cx="3730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Search — find best match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971799"/>
            <a:ext cx="3200400" cy="621792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108959"/>
            <a:ext cx="30906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Parent (full section)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2971799"/>
            <a:ext cx="1371600" cy="621792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76472" y="3108959"/>
            <a:ext cx="1261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53A3A"/>
                </a:solidFill>
                <a:latin typeface="Calibri"/>
              </a:rPr>
              <a:t>No ✗ (typical)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4920" y="2971799"/>
            <a:ext cx="2286000" cy="621792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8072" y="3108959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DB / doc store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60920" y="2971799"/>
            <a:ext cx="3840480" cy="621792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34072" y="3108959"/>
            <a:ext cx="3730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Context — sent to LLM after hit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06324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1546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Why not embed parents too? Duplicate results · noisier search · unclear whether to send parent or child to the LLM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3703320"/>
            <a:ext cx="548640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886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Index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2976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Save parent §3 as text + parent_id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Embed children C1–C4; each stores parent_id = §3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Parent is not added to the vector search index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703320"/>
            <a:ext cx="5394960" cy="2331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3886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Query time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297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Vector search runs on children only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Hit child C3 → read parent_id → fetch parent text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41E2A"/>
                </a:solidFill>
                <a:latin typeface="Calibri"/>
              </a:rPr>
              <a:t>•  Send full parent section to the LLM (best practice)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6172200"/>
            <a:ext cx="11155680" cy="41148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23620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Mental model: children = search snippets · parent = full page you open after the match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21  /  32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Proposition · Why it exists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Normal chunks still pack multiple facts and vague pronouns into one embedding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86400" cy="2011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3A3A"/>
                </a:solidFill>
                <a:latin typeface="Calibri"/>
              </a:rPr>
              <a:t>Problems with normal chunks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Several facts in one paragraph → noisy retrieval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Pronouns ("it", "this") embed poorly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41E2A"/>
                </a:solidFill>
                <a:latin typeface="Calibri"/>
              </a:rPr>
              <a:t>•  User asks about 1 fact, gets 3 unrelated facts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5486400" cy="182880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The 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Rewrite each fact as a standalone sentence. One fact = one chunk. No pronouns without a named subject.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394960" cy="4023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C7C7C"/>
                </a:solidFill>
                <a:latin typeface="Calibri"/>
              </a:rPr>
              <a:t>Bad vs good proposition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3A3A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974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It covers dental after 6 months.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566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56616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Acme Plan covers dental after a 6-month wait.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43484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53A3A"/>
                </a:solidFill>
                <a:latin typeface="Calibri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43484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Vision is after 90 days for FT staff.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30351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5303519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Acme Plan covers vision after 90 days for full-time employees.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22  /  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Proposition · Worked example +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Query: "When does vision coverage start?"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74519"/>
            <a:ext cx="539496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675"/>
                </a:solidFill>
                <a:latin typeface="Calibri"/>
              </a:rPr>
              <a:t>Original paragraph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7744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The Acme Plan covers dental after a 6-month wait and vision after 90 days for full-time staff.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39496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Atomic propositions (each embedded separately)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514600"/>
            <a:ext cx="49377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6791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P1: Acme Plan provides dental coverage after a 6-month waiting period.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383280"/>
            <a:ext cx="4937760" cy="713232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35478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1E2A"/>
                </a:solidFill>
                <a:latin typeface="Calibri"/>
              </a:rPr>
              <a:t>P2: Acme Plan provides vision coverage after a 90-day waiting period.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251960"/>
            <a:ext cx="493776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4165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P3: Acme Plan benefits require full-time employee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37560"/>
            <a:ext cx="5394960" cy="265176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What retrieval returns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Vector search hits P2 only (vision wait period)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Not P1 (dental) or P3 (eligibility) — less noise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LLM answers: "90 days after start"</a:t>
            </a:r>
          </a:p>
          <a:p>
            <a:pPr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•  Normal chunking would return the whole paragraph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6172200"/>
            <a:ext cx="11155680" cy="411480"/>
          </a:xfrm>
          <a:prstGeom prst="roundRect">
            <a:avLst>
              <a:gd name="adj" fmla="val 10000"/>
            </a:avLst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3620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41E2A"/>
                </a:solidFill>
                <a:latin typeface="Calibri"/>
              </a:rPr>
              <a:t>Index time: often use an LLM to extract propositions · Best for: benefits FAQs, compliance rules, product specs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23  /  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Strategy comparison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Pick for quality first — optimize cost second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20240"/>
            <a:ext cx="2148840" cy="457200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920240"/>
            <a:ext cx="2148840" cy="457200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Precision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920240"/>
            <a:ext cx="2148840" cy="457200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920240"/>
            <a:ext cx="2148840" cy="457200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920240"/>
            <a:ext cx="2148840" cy="457200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Best fit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7744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514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Fixed-size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37744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2514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37744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514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Variable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237744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2514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237744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55480" y="25146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Prototypes, flat 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97180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Overlap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297180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Higher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83480" y="297180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492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Better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297180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Low+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64040" y="297180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310896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Narrative / policies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56616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703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Recursive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56616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3703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High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83480" y="356616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74920" y="3703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High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356616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3703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64040" y="356616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55480" y="370332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Structured docs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416052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4360" y="42976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Semantic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416052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0" y="42976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83480" y="416052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42976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416052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0" y="42976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Med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64040" y="416052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55480" y="42976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Mixed topics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75488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4360" y="48920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Parent–child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0" y="475488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34640" y="48920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Very high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83480" y="475488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74920" y="48920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Very high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23760" y="475488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315200" y="48920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Med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64040" y="4754880"/>
            <a:ext cx="214884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55480" y="48920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Long manuals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2920" y="534924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54864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1E2A"/>
                </a:solidFill>
                <a:latin typeface="Calibri"/>
              </a:rPr>
              <a:t>Proposition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43200" y="534924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34640" y="54864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Very high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83480" y="534924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74920" y="54864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Low→expand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23760" y="534924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15200" y="54864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High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64040" y="5349240"/>
            <a:ext cx="2148840" cy="594360"/>
          </a:xfrm>
          <a:prstGeom prst="rect">
            <a:avLst/>
          </a:prstGeom>
          <a:solidFill>
            <a:srgbClr val="E6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55480" y="548640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Factoid Q&amp;A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24  /  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How to choose a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Start simple; upgrade when retrieval evals fail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3055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Most docs have headings?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305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C7C7C"/>
                </a:solidFill>
                <a:latin typeface="Calibri"/>
              </a:rPr>
              <a:t>→ Recursive (+ light overlap)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74320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0779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Long chapters, precise Qs?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9077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C7C7C"/>
                </a:solidFill>
                <a:latin typeface="Calibri"/>
              </a:rPr>
              <a:t>→ Parent–child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044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8503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Mixed topics in one file?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850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C7C7C"/>
                </a:solidFill>
                <a:latin typeface="Calibri"/>
              </a:rPr>
              <a:t>→ Semantic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9768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4622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Need exact factual answers?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4622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C7C7C"/>
                </a:solidFill>
                <a:latin typeface="Calibri"/>
              </a:rPr>
              <a:t>→ Proposition / atomic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7492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23951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1E2A"/>
                </a:solidFill>
                <a:latin typeface="Calibri"/>
              </a:rPr>
              <a:t>Shipping an MVP this week?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2395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C7C7C"/>
                </a:solidFill>
                <a:latin typeface="Calibri"/>
              </a:rPr>
              <a:t>→ Fixed-size + 10–15% overlap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25  /  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Applications · where chunking shows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Same RAG idea — different chunk designs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36576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Customer support 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Recursive on help center +
overlap on long articles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Retrieve article section → cite URL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965960"/>
            <a:ext cx="36576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Legal /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Parent–child on contracts;
clause = child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Precise clause hits + full section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965960"/>
            <a:ext cx="36576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1488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Codebase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603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Chunk by function / class
(+ file as parent)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291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Don't split mid-function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14800"/>
            <a:ext cx="36576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Research / papers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Semantic by section; keep
abstracts whole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Methods vs results stay separate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4114800"/>
            <a:ext cx="36576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HR policies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709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Recursive by heading +
proposition for benefits tables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"Does dental cover…?" style Qs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4114800"/>
            <a:ext cx="365760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297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Internal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709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41E2A"/>
                </a:solidFill>
                <a:latin typeface="Calibri"/>
              </a:rPr>
              <a:t>Fixed + metadata filters
(team, date, product)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Hybrid keyword + vector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26  /  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Worked application · Employee handbook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One corpus, three query types → three chunk tactics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Query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1168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201168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2240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Chunk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7180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Policy lookup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97180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"How many remote days?"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297180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200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Recursive by section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3192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Multi-fact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93192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4160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"Stipend + approval owner?"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393192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4160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Overlap or parent–child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9204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20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41E2A"/>
                </a:solidFill>
                <a:latin typeface="Calibri"/>
              </a:rPr>
              <a:t>Benefits factoid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89204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5120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"Vision wait period?"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4892040"/>
            <a:ext cx="365760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5120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41E2A"/>
                </a:solidFill>
                <a:latin typeface="Calibri"/>
              </a:rPr>
              <a:t>Proposition chunks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27  /  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Common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Chunking bugs look like "the model is dumb"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532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3A3A"/>
                </a:solidFill>
                <a:latin typeface="Calibri"/>
              </a:rPr>
              <a:t>Ignoring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Always store source, heading path, page, timestamps.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532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3A3A"/>
                </a:solidFill>
                <a:latin typeface="Calibri"/>
              </a:rPr>
              <a:t>One size for all file types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606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PDFs ≠ chat logs ≠ code. Specialize per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37560"/>
            <a:ext cx="5532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3A3A"/>
                </a:solidFill>
                <a:latin typeface="Calibri"/>
              </a:rPr>
              <a:t>No evaluation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Build 20–50 real questions; measure recall@k.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337560"/>
            <a:ext cx="5532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566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3A3A"/>
                </a:solidFill>
                <a:latin typeface="Calibri"/>
              </a:rPr>
              <a:t>Chunking at generation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9776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Index-time chunks must match query-time retrieval.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09160"/>
            <a:ext cx="5532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3A3A"/>
                </a:solidFill>
                <a:latin typeface="Calibri"/>
              </a:rPr>
              <a:t>Orphan pronouns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"It expires in 30 days" without what "it" 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709160"/>
            <a:ext cx="5532120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937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53A3A"/>
                </a:solidFill>
                <a:latin typeface="Calibri"/>
              </a:rPr>
              <a:t>Over-chunking tables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5349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675"/>
                </a:solidFill>
                <a:latin typeface="Calibri"/>
              </a:rPr>
              <a:t>Keep tables / lists together or summarize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28  /  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Teaching checklist · best practices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Use this as a lab rubric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Match chunk size to embedding model context (often 256–1024 tokens)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51460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06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060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Prefer structure-aware splits over blind character cuts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10896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004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Add 10–20% overlap when answers span boundaries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7947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Attach rich metadata for filters and citations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9768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3891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Evaluate with real user questions before tuning prompts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89204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9834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834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Re-chunk when document structure or product domain changes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486400"/>
            <a:ext cx="111556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778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4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5778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41E2A"/>
                </a:solidFill>
                <a:latin typeface="Calibri"/>
              </a:rPr>
              <a:t>Log retrieved chunks during demos — teach with evidence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29  /  32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Classroom lab (30–45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Hands-on: same corpus, competing chunkers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103120"/>
            <a:ext cx="411480" cy="4114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3055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1E2A"/>
                </a:solidFill>
                <a:latin typeface="Calibri"/>
              </a:rPr>
              <a:t>Pick a short handbook or README (~5–10 pages)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880360"/>
            <a:ext cx="411480" cy="4114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260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90779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1E2A"/>
                </a:solidFill>
                <a:latin typeface="Calibri"/>
              </a:rPr>
              <a:t>Build three indexes: fixed, recursive, parent–child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044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657600"/>
            <a:ext cx="411480" cy="4114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68503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1E2A"/>
                </a:solidFill>
                <a:latin typeface="Calibri"/>
              </a:rPr>
              <a:t>Write 10 questions (5 easy, 3 multi-hop, 2 adversarial)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9768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434840"/>
            <a:ext cx="411480" cy="4114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8056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46227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1E2A"/>
                </a:solidFill>
                <a:latin typeface="Calibri"/>
              </a:rPr>
              <a:t>Score recall@3 and answer correctness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07492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212080"/>
            <a:ext cx="411480" cy="411480"/>
          </a:xfrm>
          <a:prstGeom prst="ellipse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523951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41E2A"/>
                </a:solidFill>
                <a:latin typeface="Calibri"/>
              </a:rPr>
              <a:t>Discuss: which strategy won — and why for which query?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30  /  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C7C7C"/>
                </a:solidFill>
                <a:latin typeface="Calibri"/>
              </a:rPr>
              <a:t>RAG TEACHING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41E2A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675"/>
                </a:solidFill>
                <a:latin typeface="Calibri"/>
              </a:rPr>
              <a:t>What students should leave remembering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37160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RAG grounds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Retrieve → Augment → Generate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137160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423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Chunking is a product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017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Not just a preprocessing detail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02336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137160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Structure beats blind cuts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Headings, parents, propositions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23360"/>
            <a:ext cx="553212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4023360"/>
            <a:ext cx="137160" cy="178308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4348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1E2A"/>
                </a:solidFill>
                <a:latin typeface="Calibri"/>
              </a:rPr>
              <a:t>Measure, then upgrade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029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675"/>
                </a:solidFill>
                <a:latin typeface="Calibri"/>
              </a:rPr>
              <a:t>Eval questions before fancy chunkers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46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5"/>
                </a:solidFill>
                <a:latin typeface="Calibri"/>
              </a:rPr>
              <a:t>31  /  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675"/>
                </a:solidFill>
                <a:latin typeface="Calibri"/>
              </a:rPr>
              <a:t>RAG · Chunking Strategies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C7C7C"/>
                </a:solidFill>
                <a:latin typeface="Calibri"/>
              </a:rPr>
              <a:t>NEXT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Embeddings, retrieval,
and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8C4D0"/>
                </a:solidFill>
                <a:latin typeface="Calibri"/>
              </a:rPr>
              <a:t>Questions? Try the lab — then we'll score your chunkers.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