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7C7C"/>
                </a:solidFill>
                <a:latin typeface="Calibri"/>
              </a:rPr>
              <a:t>VISUAL LEARNING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Model Context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Calibri"/>
              </a:rPr>
              <a:t>See the whole end-to-end flow — with a real flight-finder example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206240"/>
            <a:ext cx="2377440" cy="640080"/>
          </a:xfrm>
          <a:prstGeom prst="roundRect">
            <a:avLst>
              <a:gd name="adj" fmla="val 12000"/>
            </a:avLst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3159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4206240"/>
            <a:ext cx="2377440" cy="640080"/>
          </a:xfrm>
          <a:prstGeom prst="roundRect">
            <a:avLst>
              <a:gd name="adj" fmla="val 12000"/>
            </a:avLst>
          </a:prstGeom>
          <a:solidFill>
            <a:srgbClr val="D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43159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4206240"/>
            <a:ext cx="2377440" cy="640080"/>
          </a:xfrm>
          <a:prstGeom prst="roundRect">
            <a:avLst>
              <a:gd name="adj" fmla="val 12000"/>
            </a:avLst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43159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59" y="4206240"/>
            <a:ext cx="2377440" cy="640080"/>
          </a:xfrm>
          <a:prstGeom prst="roundRect">
            <a:avLst>
              <a:gd name="adj" fmla="val 12000"/>
            </a:avLst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59" y="43159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03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Samiaa Learning  ·  Agents · Tools · Azure Foundry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7C7C"/>
                </a:solidFill>
                <a:latin typeface="Calibri"/>
              </a:rPr>
              <a:t>LEARNING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2A"/>
                </a:solidFill>
                <a:latin typeface="Calibri"/>
              </a:rPr>
              <a:t>Today’s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From confusion → clear mental model → end-to-end demo 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94560"/>
            <a:ext cx="178308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468880"/>
            <a:ext cx="685800" cy="685800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8328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E2A"/>
                </a:solidFill>
                <a:latin typeface="Calibri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1480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Why integrations hurt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5661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7C7C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2194560"/>
            <a:ext cx="178308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80360" y="2468880"/>
            <a:ext cx="685800" cy="685800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2606040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38328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E2A"/>
                </a:solidFill>
                <a:latin typeface="Calibri"/>
              </a:rPr>
              <a:t>Picture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411480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Host · Client ·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5661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7C7C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2194560"/>
            <a:ext cx="178308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00600" y="2468880"/>
            <a:ext cx="685800" cy="685800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2606040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38328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E2A"/>
                </a:solidFill>
                <a:latin typeface="Calibri"/>
              </a:rPr>
              <a:t>Primitives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11480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Tools · Resources · Prompts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5661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7C7C"/>
                </a:solidFill>
                <a:latin typeface="Calibr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194560"/>
            <a:ext cx="178308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720840" y="2468880"/>
            <a:ext cx="685800" cy="685800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606040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38328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E2A"/>
                </a:solidFill>
                <a:latin typeface="Calibri"/>
              </a:rPr>
              <a:t>E2E 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11480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Flight finder walkthrough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5661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7C7C"/>
                </a:solidFill>
                <a:latin typeface="Calibr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2194560"/>
            <a:ext cx="178308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641080" y="2468880"/>
            <a:ext cx="685800" cy="685800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41080" y="2606040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338328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E2A"/>
                </a:solidFill>
                <a:latin typeface="Calibri"/>
              </a:rPr>
              <a:t>Compare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411480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RAG vs MCP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5661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7C7C"/>
                </a:solidFill>
                <a:latin typeface="Calibri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12680" y="2194560"/>
            <a:ext cx="178308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561320" y="2468880"/>
            <a:ext cx="685800" cy="685800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61320" y="2606040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04120" y="338328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E2A"/>
                </a:solidFill>
                <a:latin typeface="Calibri"/>
              </a:rPr>
              <a:t>Practice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04120" y="411480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Design lab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2  /  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MCP · Visual End-to-End Guide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7C7C"/>
                </a:solidFill>
                <a:latin typeface="Calibri"/>
              </a:rPr>
              <a:t>LEARNING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2A"/>
                </a:solidFill>
                <a:latin typeface="Calibri"/>
              </a:rPr>
              <a:t>Without MCP: the spaghetti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Every AI app builds a custom plug for every tool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194560" cy="1005840"/>
          </a:xfrm>
          <a:prstGeom prst="roundRect">
            <a:avLst>
              <a:gd name="adj" fmla="val 12000"/>
            </a:avLst>
          </a:prstGeom>
          <a:solidFill>
            <a:srgbClr val="B5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Cursor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2194560" cy="1005840"/>
          </a:xfrm>
          <a:prstGeom prst="roundRect">
            <a:avLst>
              <a:gd name="adj" fmla="val 12000"/>
            </a:avLst>
          </a:prstGeom>
          <a:solidFill>
            <a:srgbClr val="B5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Foundry
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572000"/>
            <a:ext cx="2194560" cy="1005840"/>
          </a:xfrm>
          <a:prstGeom prst="roundRect">
            <a:avLst>
              <a:gd name="adj" fmla="val 12000"/>
            </a:avLst>
          </a:prstGeom>
          <a:solidFill>
            <a:srgbClr val="B5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800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Custom
Python bot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423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GitHub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210312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2423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Flights
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4904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4069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Files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374904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4069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Slack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3200400"/>
            <a:ext cx="2834640" cy="1463040"/>
          </a:xfrm>
          <a:prstGeom prst="roundRect">
            <a:avLst>
              <a:gd name="adj" fmla="val 12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34290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53A3A"/>
                </a:solidFill>
                <a:latin typeface="Calibri"/>
              </a:rPr>
              <a:t>12 custom
integrations
N apps × M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3  /  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MCP · Visual End-to-End Guide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7C7C"/>
                </a:solidFill>
                <a:latin typeface="Calibri"/>
              </a:rPr>
              <a:t>LEARNING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2A"/>
                </a:solidFill>
                <a:latin typeface="Calibri"/>
              </a:rPr>
              <a:t>With MCP: one standard plug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Build the server once — many hosts can use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2240280" cy="914400"/>
          </a:xfrm>
          <a:prstGeom prst="roundRect">
            <a:avLst>
              <a:gd name="adj" fmla="val 12000"/>
            </a:avLst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Cursor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2103120"/>
            <a:ext cx="2240280" cy="914400"/>
          </a:xfrm>
          <a:prstGeom prst="roundRect">
            <a:avLst>
              <a:gd name="adj" fmla="val 12000"/>
            </a:avLst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22860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Foundry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0" y="2103120"/>
            <a:ext cx="2240280" cy="914400"/>
          </a:xfrm>
          <a:prstGeom prst="roundRect">
            <a:avLst>
              <a:gd name="adj" fmla="val 12000"/>
            </a:avLst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22860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Python 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C7C7C"/>
                </a:solidFill>
                <a:latin typeface="Calibri"/>
              </a:rPr>
              <a:t>↓  MCP protocol  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3611880"/>
            <a:ext cx="7498079" cy="777240"/>
          </a:xfrm>
          <a:prstGeom prst="roundRect">
            <a:avLst>
              <a:gd name="adj" fmla="val 12000"/>
            </a:avLst>
          </a:prstGeom>
          <a:solidFill>
            <a:srgbClr val="D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3749039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Standard MCP interface  (JSON-RPC)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709160"/>
            <a:ext cx="2651760" cy="1097280"/>
          </a:xfrm>
          <a:prstGeom prst="roundRect">
            <a:avLst>
              <a:gd name="adj" fmla="val 12000"/>
            </a:avLst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9377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GitHub
server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0440" y="4709160"/>
            <a:ext cx="2651760" cy="1097280"/>
          </a:xfrm>
          <a:prstGeom prst="roundRect">
            <a:avLst>
              <a:gd name="adj" fmla="val 12000"/>
            </a:avLst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49377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Flights
server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709160"/>
            <a:ext cx="2651760" cy="1097280"/>
          </a:xfrm>
          <a:prstGeom prst="roundRect">
            <a:avLst>
              <a:gd name="adj" fmla="val 12000"/>
            </a:avLst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9377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Files
server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4709160"/>
            <a:ext cx="2651760" cy="1097280"/>
          </a:xfrm>
          <a:prstGeom prst="roundRect">
            <a:avLst>
              <a:gd name="adj" fmla="val 12000"/>
            </a:avLst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49377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Slack
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4  /  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MCP · Visual End-to-End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7C7C"/>
                </a:solidFill>
                <a:latin typeface="Calibri"/>
              </a:rPr>
              <a:t>REMEMBER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MCP = USB-C for AI tools.
One plug shape. Many devices.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8C4D0"/>
                </a:solidFill>
                <a:latin typeface="Calibri"/>
              </a:rPr>
              <a:t>Hosts speak MCP. Servers expose capabilities. Agents get superpowers.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5  /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MCP · Visual End-to-End Guide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7C7C"/>
                </a:solidFill>
                <a:latin typeface="Calibri"/>
              </a:rPr>
              <a:t>LEARNING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2A"/>
                </a:solidFill>
                <a:latin typeface="Calibri"/>
              </a:rPr>
              <a:t>The 3 roles — visual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Every MCP setup has these pieces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493776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4937760" cy="50292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HOST  =  AI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Examples: Cursor, Claude Desktop, your 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063240"/>
            <a:ext cx="3840480" cy="685800"/>
          </a:xfrm>
          <a:prstGeom prst="roundRect">
            <a:avLst>
              <a:gd name="adj" fmla="val 12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22783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E2A"/>
                </a:solidFill>
                <a:latin typeface="Calibri"/>
              </a:rPr>
              <a:t>MCP Client A  →  one connection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886200"/>
            <a:ext cx="3840480" cy="685800"/>
          </a:xfrm>
          <a:prstGeom prst="roundRect">
            <a:avLst>
              <a:gd name="adj" fmla="val 12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05079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E2A"/>
                </a:solidFill>
                <a:latin typeface="Calibri"/>
              </a:rPr>
              <a:t>MCP Client B  →  one connection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09160"/>
            <a:ext cx="3840480" cy="685800"/>
          </a:xfrm>
          <a:prstGeom prst="roundRect">
            <a:avLst>
              <a:gd name="adj" fmla="val 12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87375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E2A"/>
                </a:solidFill>
                <a:latin typeface="Calibri"/>
              </a:rPr>
              <a:t>MCP Client C  →  one connection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4747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C7C7C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28800"/>
            <a:ext cx="548640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828800"/>
            <a:ext cx="5486400" cy="50292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920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SERVERS  =  Capability providers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606040"/>
            <a:ext cx="4846320" cy="868680"/>
          </a:xfrm>
          <a:prstGeom prst="roundRect">
            <a:avLst>
              <a:gd name="adj" fmla="val 12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7157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E2A"/>
                </a:solidFill>
                <a:latin typeface="Calibri"/>
              </a:rPr>
              <a:t>Flights MCP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044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tools: search_flights, rank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3611880"/>
            <a:ext cx="4846320" cy="868680"/>
          </a:xfrm>
          <a:prstGeom prst="roundRect">
            <a:avLst>
              <a:gd name="adj" fmla="val 12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37216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E2A"/>
                </a:solidFill>
                <a:latin typeface="Calibri"/>
              </a:rPr>
              <a:t>Files MCP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0507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resources: policy.md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4617720"/>
            <a:ext cx="4846320" cy="868680"/>
          </a:xfrm>
          <a:prstGeom prst="roundRect">
            <a:avLst>
              <a:gd name="adj" fmla="val 12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4727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E2A"/>
                </a:solidFill>
                <a:latin typeface="Calibri"/>
              </a:rPr>
              <a:t>GitHub MCP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056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tools: create_issue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6  /  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MCP · Visual End-to-End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7C7C"/>
                </a:solidFill>
                <a:latin typeface="Calibri"/>
              </a:rPr>
              <a:t>LEARNING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2A"/>
                </a:solidFill>
                <a:latin typeface="Calibri"/>
              </a:rPr>
              <a:t>Three primitives (what servers expose)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Think: Do · Read · Template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365760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3657600" cy="100584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⚡ 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Do something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Who triggers?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37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Model decides to 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Examples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519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search_flights()
create_issue()
send_slack()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783080"/>
            <a:ext cx="365760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783080"/>
            <a:ext cx="3657600" cy="1005840"/>
          </a:xfrm>
          <a:prstGeom prst="rect">
            <a:avLst/>
          </a:prstGeom>
          <a:solidFill>
            <a:srgbClr val="D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8745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📄  RESOURCES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Read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Who triggers?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337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App loads into 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886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519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file://policy.md
db://schema
doc://faq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783080"/>
            <a:ext cx="365760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783080"/>
            <a:ext cx="3657600" cy="100584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18745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📋  PROMPTS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Start a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Who triggers?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337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User clicks / selects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886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Examples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2519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“Find best flight”
“Summarize PRs”
“Draft email”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7  /  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MCP · Visual End-to-End 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A2A"/>
                </a:solidFill>
                <a:latin typeface="Calibri"/>
              </a:rPr>
              <a:t>END-TO-END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Flight Finder Agent
with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8C4D0"/>
                </a:solidFill>
                <a:latin typeface="Calibri"/>
              </a:rPr>
              <a:t>User asks for the best flight  →  agent uses MCP tools  →  ranked answer with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8  /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MCP · Visual End-to-End Guide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7C7C"/>
                </a:solidFill>
                <a:latin typeface="Calibri"/>
              </a:rPr>
              <a:t>LEARNING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2A"/>
                </a:solidFill>
                <a:latin typeface="Calibri"/>
              </a:rPr>
              <a:t>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One clear user goal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1371600"/>
          </a:xfrm>
          <a:prstGeom prst="roundRect">
            <a:avLst>
              <a:gd name="adj" fmla="val 12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USER SAYS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1E2A"/>
                </a:solidFill>
                <a:latin typeface="Calibri"/>
              </a:rPr>
              <a:t>“Find the best flight from Islamabad to Jeddah next Friday — prefer fewest stops, under $700.”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566160"/>
            <a:ext cx="274320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566160"/>
            <a:ext cx="2743200" cy="4572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639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41E2A"/>
                </a:solidFill>
                <a:latin typeface="Calibri"/>
              </a:rPr>
              <a:t>Travel Agent UI
(or Cursor / Foundry)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3566160"/>
            <a:ext cx="274320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3566160"/>
            <a:ext cx="2743200" cy="4572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3639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MCP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2976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41E2A"/>
                </a:solidFill>
                <a:latin typeface="Calibri"/>
              </a:rPr>
              <a:t>flights-mcp
+ optional files-mcp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566160"/>
            <a:ext cx="274320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566160"/>
            <a:ext cx="2743200" cy="457200"/>
          </a:xfrm>
          <a:prstGeom prst="rect">
            <a:avLst/>
          </a:prstGeom>
          <a:solidFill>
            <a:srgbClr val="D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639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976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41E2A"/>
                </a:solidFill>
                <a:latin typeface="Calibri"/>
              </a:rPr>
              <a:t>search_flights
rank_flights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3566160"/>
            <a:ext cx="274320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81160" y="3566160"/>
            <a:ext cx="2743200" cy="4572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3639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Resource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2976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41E2A"/>
                </a:solidFill>
                <a:latin typeface="Calibri"/>
              </a:rPr>
              <a:t>baggage_policy.md
(airline rules)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9  /  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MCP · Visual End-to-End Guide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7C7C"/>
                </a:solidFill>
                <a:latin typeface="Calibri"/>
              </a:rPr>
              <a:t>LEARNING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2A"/>
                </a:solidFill>
                <a:latin typeface="Calibri"/>
              </a:rPr>
              <a:t>End-to-end flow (bird’s eye)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8 steps from question → answer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286000"/>
            <a:ext cx="640080" cy="640080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9572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3200400"/>
            <a:ext cx="13258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3429000"/>
            <a:ext cx="1325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1E2A"/>
                </a:solidFill>
                <a:latin typeface="Calibri"/>
              </a:rPr>
              <a:t>User
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3774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7C7C"/>
                </a:solidFill>
                <a:latin typeface="Calibri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2148840" y="2286000"/>
            <a:ext cx="640080" cy="640080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239572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83080" y="3200400"/>
            <a:ext cx="13258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3429000"/>
            <a:ext cx="1325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1E2A"/>
                </a:solidFill>
                <a:latin typeface="Calibri"/>
              </a:rPr>
              <a:t>Host
plans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3774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7C7C"/>
                </a:solidFill>
                <a:latin typeface="Calibri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3611880" y="2286000"/>
            <a:ext cx="640080" cy="640080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239572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3200400"/>
            <a:ext cx="13258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3429000"/>
            <a:ext cx="1325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1E2A"/>
                </a:solidFill>
                <a:latin typeface="Calibri"/>
              </a:rPr>
              <a:t>List
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3774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7C7C"/>
                </a:solidFill>
                <a:latin typeface="Calibri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5074920" y="2286000"/>
            <a:ext cx="640080" cy="640080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39572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60" y="3200400"/>
            <a:ext cx="13258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3429000"/>
            <a:ext cx="1325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1E2A"/>
                </a:solidFill>
                <a:latin typeface="Calibri"/>
              </a:rPr>
              <a:t>Call
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23774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7C7C"/>
                </a:solidFill>
                <a:latin typeface="Calibri"/>
              </a:rP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6537960" y="2286000"/>
            <a:ext cx="640080" cy="640080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39572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200400"/>
            <a:ext cx="13258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3429000"/>
            <a:ext cx="1325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1E2A"/>
                </a:solidFill>
                <a:latin typeface="Calibri"/>
              </a:rPr>
              <a:t>API
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3774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7C7C"/>
                </a:solidFill>
                <a:latin typeface="Calibri"/>
              </a:rPr>
              <a:t>→</a:t>
            </a:r>
          </a:p>
        </p:txBody>
      </p:sp>
      <p:sp>
        <p:nvSpPr>
          <p:cNvPr id="31" name="Oval 30"/>
          <p:cNvSpPr/>
          <p:nvPr/>
        </p:nvSpPr>
        <p:spPr>
          <a:xfrm>
            <a:off x="8001000" y="2286000"/>
            <a:ext cx="640080" cy="640080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0" y="239572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3200400"/>
            <a:ext cx="13258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3429000"/>
            <a:ext cx="1325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1E2A"/>
                </a:solidFill>
                <a:latin typeface="Calibri"/>
              </a:rPr>
              <a:t>Rank
best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23774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7C7C"/>
                </a:solidFill>
                <a:latin typeface="Calibri"/>
              </a:rPr>
              <a:t>→</a:t>
            </a:r>
          </a:p>
        </p:txBody>
      </p:sp>
      <p:sp>
        <p:nvSpPr>
          <p:cNvPr id="36" name="Oval 35"/>
          <p:cNvSpPr/>
          <p:nvPr/>
        </p:nvSpPr>
        <p:spPr>
          <a:xfrm>
            <a:off x="9464040" y="2286000"/>
            <a:ext cx="640080" cy="640080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64040" y="239572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98280" y="3200400"/>
            <a:ext cx="13258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98280" y="3429000"/>
            <a:ext cx="1325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1E2A"/>
                </a:solidFill>
                <a:latin typeface="Calibri"/>
              </a:rPr>
              <a:t>Read
policy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23774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7C7C"/>
                </a:solidFill>
                <a:latin typeface="Calibri"/>
              </a:rPr>
              <a:t>→</a:t>
            </a:r>
          </a:p>
        </p:txBody>
      </p:sp>
      <p:sp>
        <p:nvSpPr>
          <p:cNvPr id="41" name="Oval 40"/>
          <p:cNvSpPr/>
          <p:nvPr/>
        </p:nvSpPr>
        <p:spPr>
          <a:xfrm>
            <a:off x="10927080" y="2286000"/>
            <a:ext cx="640080" cy="640080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27080" y="239572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561320" y="3200400"/>
            <a:ext cx="13258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61320" y="3429000"/>
            <a:ext cx="1325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1E2A"/>
                </a:solidFill>
                <a:latin typeface="Calibri"/>
              </a:rPr>
              <a:t>Answer
+ why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4937760"/>
            <a:ext cx="11155680" cy="1005840"/>
          </a:xfrm>
          <a:prstGeom prst="roundRect">
            <a:avLst>
              <a:gd name="adj" fmla="val 12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16636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E2A"/>
                </a:solidFill>
                <a:latin typeface="Calibri"/>
              </a:rPr>
              <a:t>Next slides zoom into each step with the actual messages &amp; example data.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10  /  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MCP · Visual End-to-End Guide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7C7C"/>
                </a:solidFill>
                <a:latin typeface="Calibri"/>
              </a:rPr>
              <a:t>LEARNING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2A"/>
                </a:solidFill>
                <a:latin typeface="Calibri"/>
              </a:rPr>
              <a:t>Steps 1–2 · Ask &amp;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Host receives the request and decides it needs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303520" cy="384048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① USER → HOST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Chat message arrives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5468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ISB → JED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290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Friday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03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max $700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776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prefer nonstop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34747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C7C7C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828800"/>
            <a:ext cx="530352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828800"/>
            <a:ext cx="5303520" cy="384048"/>
          </a:xfrm>
          <a:prstGeom prst="rect">
            <a:avLst/>
          </a:prstGeom>
          <a:solidFill>
            <a:srgbClr val="D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874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② HOST (LLM) THINKS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3317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6060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I need live flight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8803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15468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I should call: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4290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search_flights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703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then rank_flights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9776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then check baggage policy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11  /  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MCP · Visual End-to-End Guide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7C7C"/>
                </a:solidFill>
                <a:latin typeface="Calibri"/>
              </a:rPr>
              <a:t>LEARNING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2A"/>
                </a:solidFill>
                <a:latin typeface="Calibri"/>
              </a:rPr>
              <a:t>Steps 3–4 · Discover &amp; call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Client talks MCP to the Flights 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303520" cy="384048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③ tools/list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Client asks server: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“What can you do?”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5468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290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Server replies: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03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• search_flights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776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• rank_flights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34747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C7C7C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828800"/>
            <a:ext cx="530352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828800"/>
            <a:ext cx="5303520" cy="384048"/>
          </a:xfrm>
          <a:prstGeom prst="rect">
            <a:avLst/>
          </a:prstGeom>
          <a:solidFill>
            <a:srgbClr val="D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874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④ tools/call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3317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6060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search_flights({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8803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  from: "ISB",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15468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  to: "JED",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4290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  date: "2026-10-17",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703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  max_price: 700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9776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})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12  /  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MCP · Visual End-to-End Guide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7C7C"/>
                </a:solidFill>
                <a:latin typeface="Calibri"/>
              </a:rPr>
              <a:t>LEARNING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2A"/>
                </a:solidFill>
                <a:latin typeface="Calibri"/>
              </a:rPr>
              <a:t>Step 5 · Tool returns structured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Not a web page — clean JSON the model can reason over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502920"/>
          </a:xfrm>
          <a:prstGeom prst="roundRect">
            <a:avLst>
              <a:gd name="adj" fmla="val 12000"/>
            </a:avLst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Airline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468880"/>
            <a:ext cx="1115568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E2A"/>
                </a:solidFill>
                <a:latin typeface="Calibri"/>
              </a:rPr>
              <a:t>SV723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6700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41E2A"/>
                </a:solidFill>
                <a:latin typeface="Calibri"/>
              </a:rPr>
              <a:t>Saudia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6700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41E2A"/>
                </a:solidFill>
                <a:latin typeface="Calibri"/>
              </a:rPr>
              <a:t>Nonstop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6700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41E2A"/>
                </a:solidFill>
                <a:latin typeface="Calibri"/>
              </a:rPr>
              <a:t>5h 10m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26700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41E2A"/>
                </a:solidFill>
                <a:latin typeface="Calibri"/>
              </a:rPr>
              <a:t>$640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265176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70662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from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383280"/>
            <a:ext cx="1115568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5844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E2A"/>
                </a:solidFill>
                <a:latin typeface="Calibri"/>
              </a:rPr>
              <a:t>PA270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5844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41E2A"/>
                </a:solidFill>
                <a:latin typeface="Calibri"/>
              </a:rPr>
              <a:t>Airblue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5844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41E2A"/>
                </a:solidFill>
                <a:latin typeface="Calibri"/>
              </a:rPr>
              <a:t>Nonstop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5844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41E2A"/>
                </a:solidFill>
                <a:latin typeface="Calibri"/>
              </a:rPr>
              <a:t>5h 20m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0" y="35844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41E2A"/>
                </a:solidFill>
                <a:latin typeface="Calibri"/>
              </a:rPr>
              <a:t>$590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84080" y="356616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362102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from 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297680"/>
            <a:ext cx="1115568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E2A"/>
                </a:solidFill>
                <a:latin typeface="Calibri"/>
              </a:rPr>
              <a:t>EK612+SV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44988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41E2A"/>
                </a:solidFill>
                <a:latin typeface="Calibri"/>
              </a:rPr>
              <a:t>Emirates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44988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41E2A"/>
                </a:solidFill>
                <a:latin typeface="Calibri"/>
              </a:rPr>
              <a:t>1 stop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4988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41E2A"/>
                </a:solidFill>
                <a:latin typeface="Calibri"/>
              </a:rPr>
              <a:t>9h 40m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0" y="44988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41E2A"/>
                </a:solidFill>
                <a:latin typeface="Calibri"/>
              </a:rPr>
              <a:t>$520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84080" y="448056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D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0" y="453542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from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This is why MCP + APIs beat “browse the web and hope” for flight search.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13  /  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MCP · Visual End-to-End Guide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7C7C"/>
                </a:solidFill>
                <a:latin typeface="Calibri"/>
              </a:rPr>
              <a:t>LEARNING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2A"/>
                </a:solidFill>
                <a:latin typeface="Calibri"/>
              </a:rPr>
              <a:t>Steps 6–7 · Rank + read a resource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Action tool + read-only 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303520" cy="384048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⑥ tools/call rank_flights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weights: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price 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5468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duration 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290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stops 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03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776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Winner: PA270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519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score: 0.91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34747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C7C7C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828800"/>
            <a:ext cx="530352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828800"/>
            <a:ext cx="5303520" cy="384048"/>
          </a:xfrm>
          <a:prstGeom prst="rect">
            <a:avLst/>
          </a:prstGeom>
          <a:solidFill>
            <a:srgbClr val="D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874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⑦ resources/read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3317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6060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URI: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8803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file://baggage_policy.md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15468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4290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“Airblue ISB-JED: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703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23kg checked included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9776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675"/>
                </a:solidFill>
                <a:latin typeface="Calibri"/>
              </a:rPr>
              <a:t>on economy.”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14  /  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MCP · Visual End-to-End Guide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7C7C"/>
                </a:solidFill>
                <a:latin typeface="Calibri"/>
              </a:rPr>
              <a:t>LEARNING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2A"/>
                </a:solidFill>
                <a:latin typeface="Calibri"/>
              </a:rPr>
              <a:t>Step 8 · Final answer to the 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Grounded in tool results + policy resource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1115568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37160" cy="420624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4F"/>
                </a:solidFill>
                <a:latin typeface="Calibri"/>
              </a:rPr>
              <a:t>AGENT REPLY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10241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41E2A"/>
                </a:solidFill>
                <a:latin typeface="Calibri"/>
              </a:rPr>
              <a:t>Best match: Airblue PA270 — nonstop ISB→JED, ~5h 20m, $590.
Why this wins: under your $700 budget, zero stops, strong duration.
Runner-up: Saudia SV723 ($640) if you prefer that airline.
Baggage note (from policy): 23kg checked included on economy.
I can compare return dates next if you want.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15  / 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MCP · Visual End-to-End Guide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7C7C"/>
                </a:solidFill>
                <a:latin typeface="Calibri"/>
              </a:rPr>
              <a:t>LEARNING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2A"/>
                </a:solidFill>
                <a:latin typeface="Calibri"/>
              </a:rPr>
              <a:t>Sequence view (who talks to whom)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Same story as a swimlane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737360"/>
            <a:ext cx="2194560" cy="502920"/>
          </a:xfrm>
          <a:prstGeom prst="roundRect">
            <a:avLst>
              <a:gd name="adj" fmla="val 12000"/>
            </a:avLst>
          </a:prstGeom>
          <a:solidFill>
            <a:srgbClr val="5A6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286000"/>
            <a:ext cx="54864" cy="365760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97480" y="1737360"/>
            <a:ext cx="2194560" cy="502920"/>
          </a:xfrm>
          <a:prstGeom prst="roundRect">
            <a:avLst>
              <a:gd name="adj" fmla="val 12000"/>
            </a:avLst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Host / LLM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03320" y="2286000"/>
            <a:ext cx="54864" cy="365760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0" y="1737360"/>
            <a:ext cx="2194560" cy="502920"/>
          </a:xfrm>
          <a:prstGeom prst="roundRect">
            <a:avLst>
              <a:gd name="adj" fmla="val 12000"/>
            </a:avLst>
          </a:prstGeom>
          <a:solidFill>
            <a:srgbClr val="D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MCP Client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286000"/>
            <a:ext cx="54864" cy="365760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60919" y="1737360"/>
            <a:ext cx="2194560" cy="502920"/>
          </a:xfrm>
          <a:prstGeom prst="roundRect">
            <a:avLst>
              <a:gd name="adj" fmla="val 12000"/>
            </a:avLst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19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Flights Server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66759" y="2286000"/>
            <a:ext cx="54864" cy="365760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92640" y="1737360"/>
            <a:ext cx="2194560" cy="502920"/>
          </a:xfrm>
          <a:prstGeom prst="roundRect">
            <a:avLst>
              <a:gd name="adj" fmla="val 12000"/>
            </a:avLst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Flight 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98480" y="2286000"/>
            <a:ext cx="54864" cy="365760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71600" y="2468880"/>
            <a:ext cx="2331720" cy="347472"/>
          </a:xfrm>
          <a:prstGeom prst="roundRect">
            <a:avLst>
              <a:gd name="adj" fmla="val 12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2487168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E2A"/>
                </a:solidFill>
                <a:latin typeface="Calibri"/>
              </a:rPr>
              <a:t>Ask for best flight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03320" y="3063240"/>
            <a:ext cx="2331720" cy="347472"/>
          </a:xfrm>
          <a:prstGeom prst="roundRect">
            <a:avLst>
              <a:gd name="adj" fmla="val 12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3320" y="3081528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E2A"/>
                </a:solidFill>
                <a:latin typeface="Calibri"/>
              </a:rPr>
              <a:t>Need search_flights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3657600"/>
            <a:ext cx="2331719" cy="347472"/>
          </a:xfrm>
          <a:prstGeom prst="roundRect">
            <a:avLst>
              <a:gd name="adj" fmla="val 12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3675887"/>
            <a:ext cx="2331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E2A"/>
                </a:solidFill>
                <a:latin typeface="Calibri"/>
              </a:rPr>
              <a:t>tools/call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59" y="4251960"/>
            <a:ext cx="2331721" cy="347472"/>
          </a:xfrm>
          <a:prstGeom prst="roundRect">
            <a:avLst>
              <a:gd name="adj" fmla="val 12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59" y="4270248"/>
            <a:ext cx="233172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E2A"/>
                </a:solidFill>
                <a:latin typeface="Calibri"/>
              </a:rPr>
              <a:t>HTTP GET /flights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66759" y="4846320"/>
            <a:ext cx="2331721" cy="347472"/>
          </a:xfrm>
          <a:prstGeom prst="roundRect">
            <a:avLst>
              <a:gd name="adj" fmla="val 12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59" y="4864607"/>
            <a:ext cx="233172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E2A"/>
                </a:solidFill>
                <a:latin typeface="Calibri"/>
              </a:rPr>
              <a:t>JSON results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5440680"/>
            <a:ext cx="2331719" cy="347472"/>
          </a:xfrm>
          <a:prstGeom prst="roundRect">
            <a:avLst>
              <a:gd name="adj" fmla="val 12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5458968"/>
            <a:ext cx="2331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E2A"/>
                </a:solidFill>
                <a:latin typeface="Calibri"/>
              </a:rPr>
              <a:t>tool result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71600" y="5989320"/>
            <a:ext cx="2331720" cy="347472"/>
          </a:xfrm>
          <a:prstGeom prst="roundRect">
            <a:avLst>
              <a:gd name="adj" fmla="val 12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6007607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E2A"/>
                </a:solidFill>
                <a:latin typeface="Calibri"/>
              </a:rPr>
              <a:t>Ranked answer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16  /  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MCP · Visual End-to-End Guide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7C7C"/>
                </a:solidFill>
                <a:latin typeface="Calibri"/>
              </a:rPr>
              <a:t>LEARNING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2A"/>
                </a:solidFill>
                <a:latin typeface="Calibri"/>
              </a:rPr>
              <a:t>What you build vs what MCP standardizes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Concrete ownership in the flight example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365760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3657600" cy="54864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You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flights-mcp server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search_flights tool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rank_flights tool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API key / auth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baggage_policy.md resource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83080"/>
            <a:ext cx="365760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783080"/>
            <a:ext cx="3657600" cy="548640"/>
          </a:xfrm>
          <a:prstGeom prst="rect">
            <a:avLst/>
          </a:prstGeom>
          <a:solidFill>
            <a:srgbClr val="D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87451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MCP standardizes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06040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How host discovers tools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How tools are called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JSON schemas / results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How resources are read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Same pattern in every 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783080"/>
            <a:ext cx="365760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783080"/>
            <a:ext cx="3657600" cy="54864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87451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Host provides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606040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Chat UI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LLM reasoning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Tool-calling loop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User approvals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Guardrails / safety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17  /  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MCP · Visual End-to-End Guide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7C7C"/>
                </a:solidFill>
                <a:latin typeface="Calibri"/>
              </a:rPr>
              <a:t>LEARNING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2A"/>
                </a:solidFill>
                <a:latin typeface="Calibri"/>
              </a:rPr>
              <a:t>Example: tool definition (concept)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What the Flights MCP server advertises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5486400" cy="4206240"/>
          </a:xfrm>
          <a:prstGeom prst="roundRect">
            <a:avLst>
              <a:gd name="adj" fmla="val 12000"/>
            </a:avLst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C7C"/>
                </a:solidFill>
                <a:latin typeface="Calibri"/>
              </a:rPr>
              <a:t>tools/list → search_flights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{
  "name": "search_flights",
  "description": "Find flights",
  "inputSchema": {
    "from": "string",
    "to": "string",
    "date": "YYYY-MM-DD",
    "max_price": "number"
  }
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83080"/>
            <a:ext cx="539496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7C7C"/>
                </a:solidFill>
                <a:latin typeface="Calibri"/>
              </a:rPr>
              <a:t>Why this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0604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Model sees a clear contract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Host validates arguments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Same schema in Cursor or Foundry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You can swap the API behind it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No scraping brittle 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18  /  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MCP · Visual End-to-End Guide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7C7C"/>
                </a:solidFill>
                <a:latin typeface="Calibri"/>
              </a:rPr>
              <a:t>LEARNING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2A"/>
                </a:solidFill>
                <a:latin typeface="Calibri"/>
              </a:rPr>
              <a:t>RAG vs MCP — same user, different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Visual contrast with our travel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548640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5486400" cy="54864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RAG  ·  Knowledge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06040"/>
            <a:ext cx="4572000" cy="411480"/>
          </a:xfrm>
          <a:prstGeom prst="roundRect">
            <a:avLst>
              <a:gd name="adj" fmla="val 12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E2A"/>
                </a:solidFill>
                <a:latin typeface="Calibri"/>
              </a:rPr>
              <a:t>PDF / handbook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108960"/>
            <a:ext cx="4572000" cy="411480"/>
          </a:xfrm>
          <a:prstGeom prst="roundRect">
            <a:avLst>
              <a:gd name="adj" fmla="val 12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54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E2A"/>
                </a:solidFill>
                <a:latin typeface="Calibri"/>
              </a:rPr>
              <a:t>→ chunk + embed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11880"/>
            <a:ext cx="4572000" cy="411480"/>
          </a:xfrm>
          <a:prstGeom prst="roundRect">
            <a:avLst>
              <a:gd name="adj" fmla="val 12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E2A"/>
                </a:solidFill>
                <a:latin typeface="Calibri"/>
              </a:rPr>
              <a:t>→ AI 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14800"/>
            <a:ext cx="4572000" cy="411480"/>
          </a:xfrm>
          <a:prstGeom prst="roundRect">
            <a:avLst>
              <a:gd name="adj" fmla="val 12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E2A"/>
                </a:solidFill>
                <a:latin typeface="Calibri"/>
              </a:rPr>
              <a:t>→ top chunks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617720"/>
            <a:ext cx="4572000" cy="411480"/>
          </a:xfrm>
          <a:prstGeom prst="roundRect">
            <a:avLst>
              <a:gd name="adj" fmla="val 12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E2A"/>
                </a:solidFill>
                <a:latin typeface="Calibri"/>
              </a:rPr>
              <a:t>→ “23kg baggage rule”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783080"/>
            <a:ext cx="548640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783080"/>
            <a:ext cx="5486400" cy="54864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8745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MCP  ·  Tools &amp; systems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2606040"/>
            <a:ext cx="4572000" cy="411480"/>
          </a:xfrm>
          <a:prstGeom prst="roundRect">
            <a:avLst>
              <a:gd name="adj" fmla="val 12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E2A"/>
                </a:solidFill>
                <a:latin typeface="Calibri"/>
              </a:rPr>
              <a:t>User question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3108960"/>
            <a:ext cx="4572000" cy="411480"/>
          </a:xfrm>
          <a:prstGeom prst="roundRect">
            <a:avLst>
              <a:gd name="adj" fmla="val 12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3154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E2A"/>
                </a:solidFill>
                <a:latin typeface="Calibri"/>
              </a:rPr>
              <a:t>→ tools/call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3611880"/>
            <a:ext cx="4572000" cy="411480"/>
          </a:xfrm>
          <a:prstGeom prst="roundRect">
            <a:avLst>
              <a:gd name="adj" fmla="val 12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E2A"/>
                </a:solidFill>
                <a:latin typeface="Calibri"/>
              </a:rPr>
              <a:t>→ Flight 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4114800"/>
            <a:ext cx="4572000" cy="411480"/>
          </a:xfrm>
          <a:prstGeom prst="roundRect">
            <a:avLst>
              <a:gd name="adj" fmla="val 12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160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E2A"/>
                </a:solidFill>
                <a:latin typeface="Calibri"/>
              </a:rPr>
              <a:t>→ live prices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20840" y="4617720"/>
            <a:ext cx="4572000" cy="411480"/>
          </a:xfrm>
          <a:prstGeom prst="roundRect">
            <a:avLst>
              <a:gd name="adj" fmla="val 12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E2A"/>
                </a:solidFill>
                <a:latin typeface="Calibri"/>
              </a:rPr>
              <a:t>→ “PA270 is best”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19  /  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MCP · Visual End-to-End Guide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7C7C"/>
                </a:solidFill>
                <a:latin typeface="Calibri"/>
              </a:rPr>
              <a:t>LEARNING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2A"/>
                </a:solidFill>
                <a:latin typeface="Calibri"/>
              </a:rPr>
              <a:t>Pro move: RAG + MCP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One agent, two powers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783080"/>
            <a:ext cx="3931920" cy="914400"/>
          </a:xfrm>
          <a:prstGeom prst="roundRect">
            <a:avLst>
              <a:gd name="adj" fmla="val 12000"/>
            </a:avLst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196596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Travel Agent (Host)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834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C7C7C"/>
                </a:solidFill>
                <a:latin typeface="Calibri"/>
              </a:rPr>
              <a:t>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834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C7C7C"/>
                </a:solidFill>
                <a:latin typeface="Calibri"/>
              </a:rPr>
              <a:t>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502920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200400"/>
            <a:ext cx="5029200" cy="4572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735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MCP tool: search_docs (RAG)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41E2A"/>
                </a:solidFill>
                <a:latin typeface="Calibri"/>
              </a:rPr>
              <a:t>Azure AI Search
Employee / airline policy PDFs
“What’s the baggage rule?”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200400"/>
            <a:ext cx="502920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3200400"/>
            <a:ext cx="5029200" cy="4572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2735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MCP tool: search_flights (API)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41E2A"/>
                </a:solidFill>
                <a:latin typeface="Calibri"/>
              </a:rPr>
              <a:t>Amadeus / Duffel / mock API
Live fares &amp; schedules
“What’s the best flight?”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20  /  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MCP · Visual End-to-End Guide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7C7C"/>
                </a:solidFill>
                <a:latin typeface="Calibri"/>
              </a:rPr>
              <a:t>LEARNING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2A"/>
                </a:solidFill>
                <a:latin typeface="Calibri"/>
              </a:rPr>
              <a:t>Same pattern in Cursor (you already use this)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Cursor = Host · your MCP servers = superpowers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1115568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847088"/>
            <a:ext cx="384048" cy="384048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8366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745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E2A"/>
                </a:solidFill>
                <a:latin typeface="Calibri"/>
              </a:rPr>
              <a:t>You configure an MCP server in Cursor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23160"/>
            <a:ext cx="1115568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532888"/>
            <a:ext cx="384048" cy="384048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6946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5603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E2A"/>
                </a:solidFill>
                <a:latin typeface="Calibri"/>
              </a:rPr>
              <a:t>Cursor starts a Client connection to that server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08960"/>
            <a:ext cx="1115568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3218688"/>
            <a:ext cx="384048" cy="384048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5526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461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E2A"/>
                </a:solidFill>
                <a:latin typeface="Calibri"/>
              </a:rPr>
              <a:t>Agent lists tools (browser, Figma, custom API…)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94760"/>
            <a:ext cx="1115568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" y="3904488"/>
            <a:ext cx="384048" cy="384048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4106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E2A"/>
                </a:solidFill>
                <a:latin typeface="Calibri"/>
              </a:rPr>
              <a:t>You ask in chat → model picks a tool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480560"/>
            <a:ext cx="1115568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4590288"/>
            <a:ext cx="384048" cy="384048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62686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6177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E2A"/>
                </a:solidFill>
                <a:latin typeface="Calibri"/>
              </a:rPr>
              <a:t>Client calls tools/call → server executes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166360"/>
            <a:ext cx="1115568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5276088"/>
            <a:ext cx="384048" cy="384048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31266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3035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E2A"/>
                </a:solidFill>
                <a:latin typeface="Calibri"/>
              </a:rPr>
              <a:t>Result returns → model finishes the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21  /  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MCP · Visual End-to-End Guide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7C7C"/>
                </a:solidFill>
                <a:latin typeface="Calibri"/>
              </a:rPr>
              <a:t>LEARNING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2A"/>
                </a:solidFill>
                <a:latin typeface="Calibri"/>
              </a:rPr>
              <a:t>Safety checkpoints in the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Where humans and guardrails intervene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57784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37160" cy="1874519"/>
          </a:xfrm>
          <a:prstGeom prst="rect">
            <a:avLst/>
          </a:prstGeom>
          <a:solidFill>
            <a:srgbClr val="D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1E2A"/>
                </a:solidFill>
                <a:latin typeface="Calibri"/>
              </a:rPr>
              <a:t>Before tool 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User approval for writes / bookings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57784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137160" cy="1874519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1945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1E2A"/>
                </a:solidFill>
                <a:latin typeface="Calibri"/>
              </a:rPr>
              <a:t>Inside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7889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Least-privilege API keys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557784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137160" cy="1874519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976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1E2A"/>
                </a:solidFill>
                <a:latin typeface="Calibri"/>
              </a:rPr>
              <a:t>On the 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920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Foundry guardrails / jailbreak block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31920"/>
            <a:ext cx="557784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931920"/>
            <a:ext cx="137160" cy="1874519"/>
          </a:xfrm>
          <a:prstGeom prst="rect">
            <a:avLst/>
          </a:prstGeom>
          <a:solidFill>
            <a:srgbClr val="B5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42976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1E2A"/>
                </a:solidFill>
                <a:latin typeface="Calibri"/>
              </a:rPr>
              <a:t>After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8920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Don’t leak secrets into chat logs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22  /  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MCP · Visual End-to-End Guide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7C7C"/>
                </a:solidFill>
                <a:latin typeface="Calibri"/>
              </a:rPr>
              <a:t>LEARNING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2A"/>
                </a:solidFill>
                <a:latin typeface="Calibri"/>
              </a:rPr>
              <a:t>Lab · Draw your own E2E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30–40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115568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801368"/>
            <a:ext cx="384048" cy="384048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3794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288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E2A"/>
                </a:solidFill>
                <a:latin typeface="Calibri"/>
              </a:rPr>
              <a:t>Write 1 user question for your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77440"/>
            <a:ext cx="1115568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487168"/>
            <a:ext cx="384048" cy="384048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2374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5146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E2A"/>
                </a:solidFill>
                <a:latin typeface="Calibri"/>
              </a:rPr>
              <a:t>Box the Host, Client, and Server on paper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63240"/>
            <a:ext cx="1115568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3172968"/>
            <a:ext cx="384048" cy="384048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0954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04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E2A"/>
                </a:solidFill>
                <a:latin typeface="Calibri"/>
              </a:rPr>
              <a:t>List 2 Tools + 1 Resource + 1 Prompt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49040"/>
            <a:ext cx="1115568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" y="3858768"/>
            <a:ext cx="384048" cy="384048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9534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8862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E2A"/>
                </a:solidFill>
                <a:latin typeface="Calibri"/>
              </a:rPr>
              <a:t>Number the arrows 1→8 like our flight story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434840"/>
            <a:ext cx="1115568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4544568"/>
            <a:ext cx="384048" cy="384048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58114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5720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E2A"/>
                </a:solidFill>
                <a:latin typeface="Calibri"/>
              </a:rPr>
              <a:t>Circle where human approval is required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120640"/>
            <a:ext cx="1115568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5230368"/>
            <a:ext cx="384048" cy="384048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26694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2578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E2A"/>
                </a:solidFill>
                <a:latin typeface="Calibri"/>
              </a:rPr>
              <a:t>Bonus: mark one step that could use RAG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23  /  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MCP · Visual End-to-End Guide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7C7C"/>
                </a:solidFill>
                <a:latin typeface="Calibri"/>
              </a:rPr>
              <a:t>LEARNING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2A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Pin these four pictures in your head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55321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37160" cy="1874519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2A"/>
                </a:solidFill>
                <a:latin typeface="Calibri"/>
              </a:rPr>
              <a:t>USB-C for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One protocol, many 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5321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83080"/>
            <a:ext cx="137160" cy="1874519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2A"/>
                </a:solidFill>
                <a:latin typeface="Calibri"/>
              </a:rPr>
              <a:t>Host → Client →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834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App connects; server delivers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40480"/>
            <a:ext cx="55321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840480"/>
            <a:ext cx="137160" cy="1874519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2A"/>
                </a:solidFill>
                <a:latin typeface="Calibri"/>
              </a:rPr>
              <a:t>Do · Read · 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Tools · Resources · Prompts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840480"/>
            <a:ext cx="55321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840480"/>
            <a:ext cx="137160" cy="1874519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251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2A"/>
                </a:solidFill>
                <a:latin typeface="Calibri"/>
              </a:rPr>
              <a:t>E2E = tool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892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Ask → call → result → answer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24  /  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MCP · Visual End-to-End Guide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C7C"/>
                </a:solidFill>
                <a:latin typeface="Calibri"/>
              </a:rPr>
              <a:t>NEXT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Implement search_flights
as a real MCP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8C4D0"/>
                </a:solidFill>
                <a:latin typeface="Calibri"/>
              </a:rPr>
              <a:t>Then wire it into Cursor or an Azure Foundry agent — same flow you just learned.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675"/>
                </a:solidFill>
                <a:latin typeface="Calibri"/>
              </a:rPr>
              <a:t>Docs: modelcontextprotocol.io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