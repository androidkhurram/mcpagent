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1E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C7C"/>
                </a:solidFill>
                <a:latin typeface="Calibri"/>
              </a:rPr>
              <a:t>TEACHING SERIES · INTRO TO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Retrieval-Augmented
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Calibri"/>
              </a:rPr>
              <a:t>Focus: Embeddings &amp; Retrieval — with worked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Part 2 · After chunking — how search actually finds the right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From vectors → search → better answers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7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3911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A"/>
                </a:solidFill>
                <a:latin typeface="Calibri"/>
              </a:rPr>
              <a:t>What embeddings are (and a tiny numeric example)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5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889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1635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A"/>
                </a:solidFill>
                <a:latin typeface="Calibri"/>
              </a:rPr>
              <a:t>Similarity: how "near" becomes "relevant"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2899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5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59359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A"/>
                </a:solidFill>
                <a:latin typeface="Calibri"/>
              </a:rPr>
              <a:t>Indexing: embed chunks, store vectors + metadata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3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39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37083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A"/>
                </a:solidFill>
                <a:latin typeface="Calibri"/>
              </a:rPr>
              <a:t>Retrieval: dense, hybrid, top-k, rerank — with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7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2063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4807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41E2A"/>
                </a:solidFill>
                <a:latin typeface="Calibri"/>
              </a:rPr>
              <a:t>Failure modes, evaluation, and a classroom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  /  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Where we left off — and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Chunking decides the units. Embeddings + retrieval decide which units you 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Chunk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39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9260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95560" y="2286000"/>
            <a:ext cx="178308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88036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572000"/>
            <a:ext cx="11155680" cy="128016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Today's focus: turn chunks into vectors, store them, then find the best ones for a question.
Example corpus throughout: Employee Handbook (Remote Work, Benefits, Security).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  /  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What is an embedding?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 list of numbers that captures meaning — so similar text lands near similar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91440" cy="38404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In 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Input: a chunk of text (or a query)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Model: an embedding model (not the chat LLM)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Output: a vector, e.g. 384 or 1536 floats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Property: meaning-near ⇒ vector-near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Used for: similarity search, clustering, rerank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Mental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"Equipment stipend is $500/year"
         ↓ embed
[ 0.12, -0.44, 0.91, … 0.03 ]
Same idea in different words
lands nearby in that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4  /  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Tiny 2D embedding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x and y here are a teaching picture — not the real embedding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Closer points = more related meaning. Search needs coordinates so a computer can rank “near” vs “far.”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548640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91440" cy="141732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47A2A"/>
                </a:solidFill>
                <a:latin typeface="Calibri"/>
              </a:rPr>
              <a:t>On this slide (hypothetical)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Each sentence is a fake 2D point (x, y)
so we can draw “near” on a flat map.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39496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48840"/>
            <a:ext cx="91440" cy="141732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C7C"/>
                </a:solidFill>
                <a:latin typeface="Calibri"/>
              </a:rPr>
              <a:t>In real 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Same idea, many more axes — e.g. 384 or 1536 numbers:
[0.12, −0.44, 0.91, …]  (you don’t plot these by hand)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49039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749039"/>
            <a:ext cx="91440" cy="50292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A  Remote work: 3 days/week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84047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7C7C"/>
                </a:solidFill>
                <a:latin typeface="Calibri"/>
              </a:rPr>
              <a:t>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34340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91440" cy="50292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165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B  Manager approval by Friday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434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C7C7C"/>
                </a:solidFill>
                <a:latin typeface="Calibri"/>
              </a:rPr>
              <a:t>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3776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37760"/>
            <a:ext cx="91440" cy="50292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10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C  Equipment stipend $500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029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47A2A"/>
                </a:solidFill>
                <a:latin typeface="Calibri"/>
              </a:rPr>
              <a:t>Money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49039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749039"/>
            <a:ext cx="91440" cy="50292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D  Vision coverage after 90 days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384047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E7D4F"/>
                </a:solidFill>
                <a:latin typeface="Calibri"/>
              </a:rPr>
              <a:t>Benefits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4340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343400"/>
            <a:ext cx="91440" cy="502920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41655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E  MFA required for VPN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4434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53A3A"/>
                </a:solidFill>
                <a:latin typeface="Calibri"/>
              </a:rPr>
              <a:t>Security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937760"/>
            <a:ext cx="53949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4937760"/>
            <a:ext cx="91440" cy="50292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010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Q  "How much is the stipend?"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5029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1E2A"/>
                </a:solidFill>
                <a:latin typeface="Calibri"/>
              </a:rPr>
              <a:t>Query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57784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A"/>
                </a:solidFill>
                <a:latin typeface="Calibri"/>
              </a:rPr>
              <a:t>Takeaway: Q should land nearest to C. We need coordinates for search — x,y is just the 2D cartoon of that.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5  /  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Similarity: cosine (the usual default)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Score from -1 to 1 (often 0–1 after normalization). Higher = more alike.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7947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Geometry reminder</a:t>
            </a:r>
          </a:p>
        </p:txBody>
      </p:sp>
      <p:pic>
        <p:nvPicPr>
          <p:cNvPr id="9" name="Picture 8" descr="cosine_triang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68880"/>
            <a:ext cx="32004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3492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Closer angle θ → larger cos(θ)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920240"/>
            <a:ext cx="36576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48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In RAG (vectors)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5176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cosine(q, d) =
(q · d) / (|q| |d|)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404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Same idea: angle between query vector and chunk vector.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572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1.0 nearly identical meaning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0.7–0.9 strong match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&lt; 0.4 usually off-topic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920240"/>
            <a:ext cx="3337560" cy="39319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Why use it?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Ignores vector length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Focuses on direction = meaning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Embeddings often normalized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Then cosine ≈ dot product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Vector DBs optimize for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6  /  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Rank three chunks for one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Toy 3D vectors (made-up numbers) — same process at 1536-D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Query Q: "How much is the equipment stipend?"   →  q = [0.90, 0.20, 0.10]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74320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3200400"/>
                <a:gridCol w="2194560"/>
              </a:tblGrid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Chunk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Text (short)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Vector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Cosine ≈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 stipend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Equipment stipend $500/year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[0.88, 0.25, 0.08]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 remote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Remote work up to 3 days/week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[0.20, 0.85, 0.15]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 MFA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MFA required before VPN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[0.10, 0.15, 0.90]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Retrieval returns C stipend first (top-1). Top-k=3 would still include weaker neighbors for the LLM to ignore.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7  / 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Embedding models you'll meet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Different sizes, languages, and price — same job: text →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9144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OpenAI / Azure text-embedding-3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7C7C"/>
                </a:solidFill>
                <a:latin typeface="Calibri"/>
              </a:rPr>
              <a:t>API · Foundry or OpenAI  ·  Small 1536 / Large 3072 dims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Common prod default in Azure AI Foundry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9144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Cohere embed-v3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7C7C"/>
                </a:solidFill>
                <a:latin typeface="Calibri"/>
              </a:rPr>
              <a:t>API · strong retrieval  ·  1024 dims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71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Good multilingual + search modes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8620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886200"/>
            <a:ext cx="9144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all-MiniLM-L6-v2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7C7C"/>
                </a:solidFill>
                <a:latin typeface="Calibri"/>
              </a:rPr>
              <a:t>Local · free  ·  384 dims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Labs, demos, offline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88620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886200"/>
            <a:ext cx="9144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bge / e5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C7C7C"/>
                </a:solidFill>
                <a:latin typeface="Calibri"/>
              </a:rPr>
              <a:t>Local or hosted  ·  768+ dims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Strong open retrieval baselines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8  /  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What does “dims” mean?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Dims = dimensions = how many numbers are in each embedding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100584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1E2A"/>
                </a:solidFill>
                <a:latin typeface="Calibri"/>
              </a:rPr>
              <a:t>Example: 1536 dims → each chunk/query becomes a list of 1536 numbers (a fingerprint of meaning).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200400"/>
            <a:ext cx="3657600" cy="914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384 dims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MiniLM-style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Smaller · faster · fine for labs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2004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200400"/>
            <a:ext cx="3657600" cy="914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1536 dims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embedding-3-small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Common Azure / OpenAI default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320040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3200400"/>
            <a:ext cx="3657600" cy="914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3072 dims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embedding-3-large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Richer fingerprint · heavier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30352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More dims can mean richer meaning — but also more storage, cost, and index size. Not always “bigger = must use.”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9  /  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Azure AI Foundry · Small vs Large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Same job (text → vector). Different size, quality, and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548640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486400" cy="914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Text Embedding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Usually text-embedding-3-small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Default dims: 1536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Cheaper and faster enough for most RAG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Great starting point for learning / prod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Analogy: a clear phone photo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920240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920240"/>
            <a:ext cx="5394960" cy="914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7A2A"/>
                </a:solidFill>
                <a:latin typeface="Calibri"/>
              </a:rPr>
              <a:t>Text Embedding Large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Usually text-embedding-3-large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Default dims: 3072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Often better on hard retrieval questions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Costs more; vectors use more storage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Analogy: a higher-resolution photo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34924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8640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Rule: use the SAME model for indexing docs and embedding queries. Don’t mix Small docs + Large queries.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10  /  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How to choose an embedding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Start with a known retrieval model — then measure on your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Prototype / class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3911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MiniLM or Foundry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03911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Fast, cheap, good enough to learn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5175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81635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Most Azure RAG apps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81635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text-embedding-3-small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81635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Cost vs quality sweet spot in Foundry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2899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935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Hard retrieval / high 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9359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text-embedding-3-large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59359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Try when Small misses too often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3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Multilingual handbook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37083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Cohere / multilingual e5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7083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Don't assume English-only models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983479"/>
            <a:ext cx="111556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4807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Must stay on-prem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148071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Local bge / e5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5148071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No API data leaving the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11  /  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Indexing: chunk → embed →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Runs once (or on every doc update). Queries never re-embed the whole corpus.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74320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1. Chunk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Split handbook into units
(from Part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0312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74320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2. Embed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Call embedding API /
local model per chunk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0312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03120"/>
            <a:ext cx="274320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3. Attach meta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source, section, page,
parent_id, 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103120"/>
            <a:ext cx="2743200" cy="2926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2103120"/>
            <a:ext cx="274320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4. Upsert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20040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Write vector + meta
into vector store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30352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Rule: same embedding model at index time and query time. Mixing models breaks similarity.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12  / 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Indexing three handbook chunks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What actually gets written to the store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1556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840480"/>
                <a:gridCol w="1463040"/>
                <a:gridCol w="2560320"/>
                <a:gridCol w="1920240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section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vector (abbrev)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embedded?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Remote work up to 3 days/week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Remote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[0.21, 0.84, …]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Equipment stipend is $500/year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Remote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[0.88, 0.24, …]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MFA required before VPN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[0.11, 0.14, …]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p_remote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Full Section 3 body (parent)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Remote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No*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949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* Parent-child reminder: parents may be stored as plain text only; children carry the vectors used for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13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What is a vector store?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 database optimized to find nearest neighbors among many vectors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Stores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Vectors + payload (metadata + often the text)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Searches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ANN: approximate nearest neighbor (HNSW, IVF…)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8620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"section = Security" before/after ANN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86200"/>
            <a:ext cx="55321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Examples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Pinecone, Weaviate, Qdrant, pgvector, Chroma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14  /  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Metadata filters save bad hits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Query: "VPN login rules" — without filters, Benefits chunks can sneak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86400" cy="91440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3A3A"/>
                </a:solidFill>
                <a:latin typeface="Calibri"/>
              </a:rPr>
              <a:t>No filter (top-3)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1. MFA required before VPN  ✓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2. Vision coverage after 90 days  ✗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3. Device wipe on offboarding  ~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Problem: "access" words confuse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394960" cy="914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Filter: section = "Security"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1. MFA required before VPN  ✓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2. VPN only on company devices  ✓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3. Device wipe on offboarding  ✓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Same query — cleaner context for the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15  / 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Query time: retrieve → (optional) rerank →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This path runs on every user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385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993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User asks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"How much is the equipment stipend?"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6243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6791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651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Embed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Same model as index → q 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2004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3101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3649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37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ANN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375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Top-k nearest chunk vectors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862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39959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507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023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Optional rerank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0233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Cross-encoder rescoring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5720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6817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365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709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Build prompt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709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Stuff top passages + ask 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57800"/>
            <a:ext cx="11155680" cy="594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" y="5367528"/>
            <a:ext cx="384048" cy="384048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4223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394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Answer + cite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394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Return text + source ids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16  /  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Dense retrieval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One question, three scored neighbors, one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Q: "How much is the equipment stipend?"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3657600" cy="91440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Calibri"/>
              </a:rPr>
              <a:t>#1  score 0.91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c2  Equipment stipend is $500/year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697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697480"/>
            <a:ext cx="3657600" cy="914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47A2A"/>
                </a:solidFill>
                <a:latin typeface="Calibri"/>
              </a:rPr>
              <a:t>#2  score 0.62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c1  Remote work up to 3 days/week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2697480"/>
            <a:ext cx="365760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697480"/>
            <a:ext cx="3657600" cy="91440"/>
          </a:xfrm>
          <a:prstGeom prst="rect">
            <a:avLst/>
          </a:prstGeom>
          <a:solidFill>
            <a:srgbClr val="5A6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#3  score 0.41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474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c4  Managers approve schedules by Friday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006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Prompt gets #1–#3. LLM answers: "$500 per year" and can cite c2.
If you only passed #2–#3 (bad top-k), the model may guess or say it doesn't know.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17  / 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Top-k: how many chunks to fetch?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Too few misses context; too many wastes tokens and adds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56616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566160" cy="91440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k too small (e.g. 1–2)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Miss second fact in multi-hop Qs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Brittle if #1 is slightly wrong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Good for ultra-precise factoids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566160" cy="9144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k balanced (e.g. 4–8)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089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Room for related neighbors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Fits most chat context budgets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Default starting point for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566160" cy="37490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566160" cy="9144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7A2A"/>
                </a:solidFill>
                <a:latin typeface="Calibri"/>
              </a:rPr>
              <a:t>k too large (e.g. 20+)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108960"/>
            <a:ext cx="3200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Noise dilutes the prompt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Higher cost / latency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Rerank becomes almost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18  /  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Same query, different 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Q: "Stipend amount and who approves remote days?"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53A3A"/>
                </a:solidFill>
                <a:latin typeface="Calibri"/>
              </a:rPr>
              <a:t>k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Returns only stipend chunk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LLM knows $500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Misses "manager approval by Friday"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Half-answer — looks like a model bug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4F"/>
                </a:solidFill>
                <a:latin typeface="Calibri"/>
              </a:rPr>
              <a:t>k = 4 (+ overlap/parent)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Stipend + approval both present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Full answer possible in one shot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Still small enough for a clean prompt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Fix was retrieval design, not a bigger 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19  / 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Hybrid search: vectors + keywords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Dense finds paraphrase; sparse finds exact IDs, codes, names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91440" cy="38404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Dense (embeddings)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346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Great at synonyms &amp; paraphrase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"pay for laptop" ≈ "equipment stipend"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Weak at rare tokens / SKUs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Needs a good embedding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91440" cy="3840480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47A2A"/>
                </a:solidFill>
                <a:latin typeface="Calibri"/>
              </a:rPr>
              <a:t>Sparse (BM25 / keyword)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Great at exact strings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Policy-ID-442, error codes, names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Weak when wording differs a lot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Often free / already in your search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20  / 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Why hybrid wins on 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Q: "What does policy RW-12 say about stipends?"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2024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572000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 hit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Dense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Generic stipend 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Misses rare token RW-12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BM25 only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Doc titled RW-12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May miss paraphrased body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Hybrid (fuse)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RW-12 section with $500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ID match + meaning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12064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Common fuse: Reciprocal Rank Fusion (RRF) — merge ranked lists without fragile score calibration.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21  / 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Reranking: a second, smarter 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Retrieve broad (cheap), then rescore top candidates (precise)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365760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Fetch k=20 with ANN / 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03120"/>
            <a:ext cx="3657600" cy="109728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D47A2A"/>
                </a:solidFill>
                <a:latin typeface="Calibri"/>
              </a:rPr>
              <a:t>Rerank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Cross-encoder scores (query, chunk) pairs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103120"/>
            <a:ext cx="365760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103120"/>
            <a:ext cx="3657600" cy="10972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D4F"/>
                </a:solidFill>
                <a:latin typeface="Calibri"/>
              </a:rPr>
              <a:t>Keep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Pass top 3–5 to the LLM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Why it helps: bi-encoders embed query &amp; doc separately (fast). Cross-encoders read both together (accurate, slower).
Use when first-stage recall is good but precision@5 is messy.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22  /  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Rerank fixes a near-miss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Q: "Is security training required before VPN?"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A6675"/>
                </a:solidFill>
                <a:latin typeface="Calibri"/>
              </a:rPr>
              <a:t>After ANN (k=5 order)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1. VPN only on company devices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2. MFA required before VPN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3. Security training before access  ← true answer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4. Remote work 3 days/week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5. Device wipe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4F"/>
                </a:solidFill>
                <a:latin typeface="Calibri"/>
              </a:rPr>
              <a:t>After cross-encoder rerank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1. Security training before access  ✓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2. MFA required before VPN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3. VPN only on company devices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…</a:t>
            </a:r>
          </a:p>
          <a:p>
            <a:pPr>
              <a:spcAft>
                <a:spcPts val="7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LLM now sees the decisive sentence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23  / 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Diversity: MMR (Maximal Marginal Relevance)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Avoid sending five near-duplicate chunks about the same sentence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3A3A"/>
                </a:solidFill>
                <a:latin typeface="Calibri"/>
              </a:rPr>
              <a:t>Without MMR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Top hits all paraphrase "$500 stipend"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Approval rule never appears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Wastes context window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Multi-hop answers fail quietly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With MMR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Keeps best stipend chunk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Prefers a different but still relevant chunk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Approval + stipend both in prompt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Trade a bit of pure similarity for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24  / 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Common retrieval failures (with fixes)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These look like "the LLM is dumb" — usually it never saw the right 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Wrong embedding model mix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Re-index with one model end-to-end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Chunk too big / too 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Revisit Part 1 strategies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0040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No metadata filters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Filter by product, locale, section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20040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k too low for multi-hop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94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Raise k or use parent-child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8056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Exact ID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Add BM25 / hybrid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480560"/>
            <a:ext cx="55321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Good recall, bad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Add a reranker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25  / 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Evaluate retrieval before blaming the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Build 20–50 labeled questions; score the search step alone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Recall@k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48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Was the needed chunk in the top-k?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Must-have for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8036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MRR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How high was the first relevant hit?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Order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nDCG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Graded relevance across the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069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When multiple goods exist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0060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Answer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Did the final LLM answer match gold?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029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End-to-end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26  / 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Example · Scoring three strategies on 10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Same handbook corpus — only retrieval setup changes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659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371600"/>
                <a:gridCol w="5577840"/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Dense, k=5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Missed RW-12 ID questions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Hybrid, k=5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IDs fixed; still some order noise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Hybrid + rerank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Best precision for the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949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Teaching takeaway: measure retrieval first. Don't swap LLMs until Recall@k is healthy.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27  / 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Retrieval toolkit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Layer techniques as quality needs grow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20240"/>
          <a:ext cx="111556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474720"/>
                <a:gridCol w="219456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Technique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Helps with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Start here?</a:t>
                      </a:r>
                    </a:p>
                  </a:txBody>
                  <a:tcPr>
                    <a:solidFill>
                      <a:srgbClr val="141E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Dense 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Paraphrase / meaning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Low–Med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Metadata filters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Wrong-section noise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Hybrid + RRF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IDs, codes,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Often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Reranker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Precision of top-5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Med–High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When noisy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MMR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Duplicate neighbors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Multi-hop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1E2A"/>
                          </a:solidFill>
                          <a:latin typeface="Calibri"/>
                        </a:rPr>
                        <a:t>Parent expand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Thin children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41E2A"/>
                          </a:solidFill>
                          <a:latin typeface="Calibri"/>
                        </a:rPr>
                        <a:t>Long manuals</a:t>
                      </a:r>
                    </a:p>
                  </a:txBody>
                  <a:tcPr>
                    <a:solidFill>
                      <a:srgbClr val="E6F4F4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28  /  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How to choose a retrieval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Start simple; upgrade when evals fail a specific 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3852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Shipping a class demo this week?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38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Dense + k=5 + 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87168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Users type product IDs / error codes?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59689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Add hybrid (BM25 + dense)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45536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Top-k has the answer but buried?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552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Add reranker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03904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1363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Answers need a whole section?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Parent-child expand after hit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62272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Many near-duplicate chunks?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MMR or better chunking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20639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230367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Wrong department docs appear?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230367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C7C7C"/>
                </a:solidFill>
                <a:latin typeface="Calibri"/>
              </a:rPr>
              <a:t>→ Metadata filters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29  / 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Applications · retrieval patterns in the wild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Same embedding idea — different retrieval recipes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Support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Hybrid + filters by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Cite help-center URL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HR handbook Q&amp;A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Dense + parent expand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Policy section in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96596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94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Code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517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Code embeddings + path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08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Don't mix random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Legal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Hybrid +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Clause IDs must hit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9319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Research papers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Dense + section metadata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Methods vs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931920"/>
            <a:ext cx="3657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Internal wiki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617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Hybrid + recency 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0749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675"/>
                </a:solidFill>
                <a:latin typeface="Calibri"/>
              </a:rPr>
              <a:t>Prefer newer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30  /  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Classroom lab (40–50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Same corpus as chunking lab — now score retrieval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3852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Reuse the handbook chunks from Part 1 (or re-chunk once)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487168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243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9689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Embed with one model; store vectors +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145536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8269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25526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Write 12 questions: 4 easy, 4 paraphrase, 2 ID, 2 multi-hop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03904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" y="3895344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410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91363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Run dense-only vs hybrid; measure Recall@5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462272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553712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9943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5720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Optional: add rerank; compare MRR and answer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20639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212079"/>
            <a:ext cx="365760" cy="36576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5779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30367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Discuss: which failure was retrieval vs chunking vs LLM?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31  /  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1E2A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What students should leave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09728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Embeddings = meaning as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Same model at index + query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109728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Retrieval is a product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k, filters, hybrid, rerank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109728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Measure search separately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Recall@k before swapping LLMs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93192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931920"/>
            <a:ext cx="109728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297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Examples beat slogans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920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Always debug with a real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32  /  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Embeddings &amp; Retrieval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NEXT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Augmenting prompts,
citations, and RAG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Calibri"/>
              </a:rPr>
              <a:t>Questions? Run the lab — then we'll grade your retrievers, not just your prompts.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